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guide. One sentence on the project: a drone that keeps navigating when GPS is lost, using a stereo camera, and reports what objects it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typical college or hobby drone falls back to altitude-hold when GPS is lost and drifts with the wind. We want it to continue safely on vision. GPS loss is always simulated in our tests; we never jam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flight controller always flies the vehicle. The Raspberry Pi only supplies measurements and slow setpoints. The neural network adds object labels; it is not what keeps the drone localised.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relied on ArduPilot's own documentation for GPS / non-GPS transitions using EKF3 source sets. Our camera has no hardware synchronisation and uses rolling-shutter sensors, so measuring how well VIO works on it is part of our contribution. Verify the exact citation details before the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 sends three things to the flight controller: a vision pose estimate, obstacle distances and slow position or velocity setpoints. The flight controller sends back its state, GPS quality and EKF status. RC goes straight to the flight controller, so the pilot's override never passes through the 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specification lists every functional and non-functional requirement with an ID and a verification method. These are the headline ones. Be clear that the numbers on the right are targets we will test against,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tiers map one-to-one onto ArduPilot's three EKF source sets. The pilot can also force a tier with a switch on the remote. Tier 2 is the focus of the project. Tier 3 exists so that a crash of the Raspberry Pi does not leave the drone drifting.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split of work: one member on sensing and stereo depth, one on odometry and localisation, one on the mode manager, navigation and simulation, one on AI perception and the vehicle build. Adjust to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odometry is OpenVINS. A visual-only stereo odometry (RTAB-Map) is the backup, and a small OpenCV stereo odometry is our own simplified version for learning and validation. Confidence is the minimum of several independent checks, including comparison with the flight controller's own gyro and barometer.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software is open source. We rejected ORB-SLAM3, Nav2, MAVSDK and running PyTorch on the drone, each for a recorded reason. The Pi, camera and MK15 are already owned; the Pixhawk and flow sensor are to be bought.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2 and 3 run in parallel. No autonomous flight happens until simulation, hardware-in-the-loop and bench tests have passed. If hardware or weather delays us, the complete simulation plus bench results is still a finished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range is wide because the airframe is not yet chosen and component prices vary between sellers. If the institute can lend a 450 to 500 mm quadcopter, batteries and a charger, the extra spend roughly halves. GPS loss is simulated with an autopilot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34 weeks, two semesters, for a team of three or four working part-time. These are planning estimates. If only one semester is available, the realistic end point is the week 20 simulation demonstration plus bench results from the real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is the main technical risk. Its vendor states it has no hardware synchronisation. We keep it because it is already owned and because measuring how far it can go is itself a useful result. A fuller failure analysis with 47 items is in the project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 three decisions: which airframe we may use or buy, which object classes the demonstration should detect, and whether the project runs for one or two semesters.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B2A41"/>
                </a:solidFill>
                <a:latin typeface="Georgia" pitchFamily="34" charset="0"/>
                <a:ea typeface="Georgia" pitchFamily="34" charset="-122"/>
                <a:cs typeface="Georgia"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26261"/>
            <a:ext cx="10566400" cy="4218939"/>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B2A41"/>
                </a:solidFill>
                <a:latin typeface="Georgia" pitchFamily="34" charset="0"/>
                <a:ea typeface="Georgia" pitchFamily="34" charset="-122"/>
                <a:cs typeface="Georgia"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26261"/>
            <a:ext cx="10566400" cy="4218939"/>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29A6B"/>
                </a:solidFill>
                <a:latin typeface="Arial" pitchFamily="34" charset="0"/>
                <a:ea typeface="Arial" pitchFamily="34" charset="-122"/>
                <a:cs typeface="Arial" pitchFamily="34" charset="-120"/>
              </a:rPr>
              <a:t>PROJECT REVIEW · [DEPARTMENT, INSTITUTION]</a:t>
            </a:r>
            <a:endParaRPr lang="en-US" sz="1200" dirty="0"/>
          </a:p>
        </p:txBody>
      </p:sp>
      <p:sp>
        <p:nvSpPr>
          <p:cNvPr id="3" name="Text 1"/>
          <p:cNvSpPr/>
          <p:nvPr>
            <p:ph type="title"/>
          </p:nvPr>
        </p:nvSpPr>
        <p:spPr>
          <a:xfrm>
            <a:off x="812800" y="2128520"/>
            <a:ext cx="10883392" cy="1310640"/>
          </a:xfrm>
          <a:prstGeom prst="rect">
            <a:avLst/>
          </a:prstGeom>
          <a:noFill/>
          <a:ln/>
        </p:spPr>
        <p:txBody>
          <a:bodyPr wrap="square" lIns="0" tIns="0" rIns="0" bIns="0" rtlCol="0" anchor="t">
            <a:normAutofit/>
          </a:bodyPr>
          <a:lstStyle/>
          <a:p>
            <a:pPr algn="l" indent="0" marL="0">
              <a:lnSpc>
                <a:spcPts val="5060"/>
              </a:lnSpc>
              <a:buNone/>
            </a:pPr>
            <a:r>
              <a:rPr lang="en-US" sz="4600" b="1" i="0" dirty="0">
                <a:solidFill>
                  <a:srgbClr val="F4F2EC"/>
                </a:solidFill>
                <a:latin typeface="Georgia" pitchFamily="18" charset="0"/>
                <a:ea typeface="Georgia" pitchFamily="18" charset="-122"/>
                <a:cs typeface="Georgia" pitchFamily="18" charset="-120"/>
              </a:rPr>
              <a:t>AI-Integrated GPS-Denied Autonomous Drone</a:t>
            </a:r>
            <a:endParaRPr lang="en-US" sz="4600" dirty="0"/>
          </a:p>
        </p:txBody>
      </p:sp>
      <p:sp>
        <p:nvSpPr>
          <p:cNvPr id="4" name="Text 2"/>
          <p:cNvSpPr/>
          <p:nvPr/>
        </p:nvSpPr>
        <p:spPr>
          <a:xfrm>
            <a:off x="812800" y="3616960"/>
            <a:ext cx="8502650"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3CCD8"/>
                </a:solidFill>
                <a:latin typeface="Arial" pitchFamily="34" charset="0"/>
                <a:ea typeface="Arial" pitchFamily="34" charset="-122"/>
                <a:cs typeface="Arial" pitchFamily="34" charset="-120"/>
              </a:rPr>
              <a:t>Vision-based navigation hand-over for a small multirotor, built on ROS 2 and a Raspberry Pi 5</a:t>
            </a:r>
            <a:endParaRPr lang="en-US" sz="1700" dirty="0"/>
          </a:p>
        </p:txBody>
      </p:sp>
      <p:sp>
        <p:nvSpPr>
          <p:cNvPr id="5" name="Shape 3"/>
          <p:cNvSpPr/>
          <p:nvPr/>
        </p:nvSpPr>
        <p:spPr>
          <a:xfrm>
            <a:off x="812800" y="5327015"/>
            <a:ext cx="10566400" cy="0"/>
          </a:xfrm>
          <a:prstGeom prst="line">
            <a:avLst/>
          </a:prstGeom>
          <a:noFill/>
          <a:ln w="6350">
            <a:solidFill>
              <a:srgbClr val="45546B"/>
            </a:solidFill>
            <a:prstDash val="solid"/>
          </a:ln>
        </p:spPr>
      </p:sp>
      <p:sp>
        <p:nvSpPr>
          <p:cNvPr id="6" name="Text 4"/>
          <p:cNvSpPr/>
          <p:nvPr/>
        </p:nvSpPr>
        <p:spPr>
          <a:xfrm>
            <a:off x="812800" y="5532120"/>
            <a:ext cx="27888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Arial" pitchFamily="34" charset="0"/>
                <a:ea typeface="Arial" pitchFamily="34" charset="-122"/>
                <a:cs typeface="Arial" pitchFamily="34" charset="-120"/>
              </a:rPr>
              <a:t>Team</a:t>
            </a:r>
            <a:endParaRPr lang="en-US" sz="1200" dirty="0"/>
          </a:p>
        </p:txBody>
      </p:sp>
      <p:sp>
        <p:nvSpPr>
          <p:cNvPr id="7" name="Text 5"/>
          <p:cNvSpPr/>
          <p:nvPr/>
        </p:nvSpPr>
        <p:spPr>
          <a:xfrm>
            <a:off x="812800" y="5796280"/>
            <a:ext cx="324916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2EC"/>
                </a:solidFill>
                <a:latin typeface="Arial" pitchFamily="34" charset="0"/>
                <a:ea typeface="Arial" pitchFamily="34" charset="-122"/>
                <a:cs typeface="Arial" pitchFamily="34" charset="-120"/>
              </a:rPr>
              <a:t>[Member names and roll numbers]</a:t>
            </a:r>
            <a:endParaRPr lang="en-US" sz="1400" dirty="0"/>
          </a:p>
        </p:txBody>
      </p:sp>
      <p:sp>
        <p:nvSpPr>
          <p:cNvPr id="8" name="Text 6"/>
          <p:cNvSpPr/>
          <p:nvPr/>
        </p:nvSpPr>
        <p:spPr>
          <a:xfrm>
            <a:off x="4130040" y="5532120"/>
            <a:ext cx="11182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Arial" pitchFamily="34" charset="0"/>
                <a:ea typeface="Arial" pitchFamily="34" charset="-122"/>
                <a:cs typeface="Arial" pitchFamily="34" charset="-120"/>
              </a:rPr>
              <a:t>Guide</a:t>
            </a:r>
            <a:endParaRPr lang="en-US" sz="1200" dirty="0"/>
          </a:p>
        </p:txBody>
      </p:sp>
      <p:sp>
        <p:nvSpPr>
          <p:cNvPr id="9" name="Text 7"/>
          <p:cNvSpPr/>
          <p:nvPr/>
        </p:nvSpPr>
        <p:spPr>
          <a:xfrm>
            <a:off x="4130040" y="5796280"/>
            <a:ext cx="128092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2EC"/>
                </a:solidFill>
                <a:latin typeface="Arial" pitchFamily="34" charset="0"/>
                <a:ea typeface="Arial" pitchFamily="34" charset="-122"/>
                <a:cs typeface="Arial" pitchFamily="34" charset="-120"/>
              </a:rPr>
              <a:t>[Guide name]</a:t>
            </a:r>
            <a:endParaRPr lang="en-US" sz="1400" dirty="0"/>
          </a:p>
        </p:txBody>
      </p:sp>
      <p:sp>
        <p:nvSpPr>
          <p:cNvPr id="10" name="Text 8"/>
          <p:cNvSpPr/>
          <p:nvPr/>
        </p:nvSpPr>
        <p:spPr>
          <a:xfrm>
            <a:off x="5807075" y="5532120"/>
            <a:ext cx="11282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Arial" pitchFamily="34" charset="0"/>
                <a:ea typeface="Arial" pitchFamily="34" charset="-122"/>
                <a:cs typeface="Arial" pitchFamily="34" charset="-120"/>
              </a:rPr>
              <a:t>Date</a:t>
            </a:r>
            <a:endParaRPr lang="en-US" sz="1200" dirty="0"/>
          </a:p>
        </p:txBody>
      </p:sp>
      <p:sp>
        <p:nvSpPr>
          <p:cNvPr id="11" name="Text 9"/>
          <p:cNvSpPr/>
          <p:nvPr/>
        </p:nvSpPr>
        <p:spPr>
          <a:xfrm>
            <a:off x="5807075" y="5796280"/>
            <a:ext cx="12929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2EC"/>
                </a:solidFill>
                <a:latin typeface="Arial" pitchFamily="34" charset="0"/>
                <a:ea typeface="Arial" pitchFamily="34" charset="-122"/>
                <a:cs typeface="Arial" pitchFamily="34" charset="-120"/>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2A"/>
                </a:solidFill>
                <a:latin typeface="Arial" pitchFamily="34" charset="0"/>
                <a:ea typeface="Arial" pitchFamily="34" charset="-122"/>
                <a:cs typeface="Arial" pitchFamily="34" charset="-120"/>
              </a:rPr>
              <a:t>01</a:t>
            </a:r>
            <a:endParaRPr lang="en-US" sz="1200" dirty="0"/>
          </a:p>
        </p:txBody>
      </p:sp>
      <p:sp>
        <p:nvSpPr>
          <p:cNvPr id="3" name="Text 1"/>
          <p:cNvSpPr/>
          <p:nvPr>
            <p:ph type="title"/>
          </p:nvPr>
        </p:nvSpPr>
        <p:spPr>
          <a:xfrm>
            <a:off x="812800" y="110236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A41"/>
                </a:solidFill>
                <a:latin typeface="Georgia" pitchFamily="18" charset="0"/>
                <a:ea typeface="Georgia" pitchFamily="18" charset="-122"/>
                <a:cs typeface="Georgia" pitchFamily="18" charset="-120"/>
              </a:rPr>
              <a:t>Problem Statement</a:t>
            </a:r>
            <a:endParaRPr lang="en-US" sz="3000" dirty="0"/>
          </a:p>
        </p:txBody>
      </p:sp>
      <p:sp>
        <p:nvSpPr>
          <p:cNvPr id="4" name="Text 2"/>
          <p:cNvSpPr/>
          <p:nvPr/>
        </p:nvSpPr>
        <p:spPr>
          <a:xfrm>
            <a:off x="812800" y="1826260"/>
            <a:ext cx="5442677" cy="111506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B2A41"/>
                </a:solidFill>
                <a:latin typeface="Georgia" pitchFamily="18" charset="0"/>
                <a:ea typeface="Georgia" pitchFamily="18" charset="-122"/>
                <a:cs typeface="Georgia" pitchFamily="18" charset="-120"/>
              </a:rPr>
              <a:t>Small drones rely on GPS to hold position. When the signal is blocked or unreliable, they drift until a pilot takes over.</a:t>
            </a:r>
            <a:endParaRPr lang="en-US" sz="2200" dirty="0"/>
          </a:p>
        </p:txBody>
      </p:sp>
      <p:sp>
        <p:nvSpPr>
          <p:cNvPr id="5" name="Text 3"/>
          <p:cNvSpPr/>
          <p:nvPr/>
        </p:nvSpPr>
        <p:spPr>
          <a:xfrm>
            <a:off x="812800" y="3119120"/>
            <a:ext cx="5442677"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C"/>
                </a:solidFill>
                <a:latin typeface="Arial" pitchFamily="34" charset="0"/>
                <a:ea typeface="Arial" pitchFamily="34" charset="-122"/>
                <a:cs typeface="Arial" pitchFamily="34" charset="-120"/>
              </a:rPr>
              <a:t>The project builds a drone that notices GPS degrading and keeps holding position and flying short routes using its own cameras and inertial sensors.</a:t>
            </a:r>
            <a:endParaRPr lang="en-US" sz="1400" dirty="0"/>
          </a:p>
        </p:txBody>
      </p:sp>
      <p:sp>
        <p:nvSpPr>
          <p:cNvPr id="6" name="Shape 4"/>
          <p:cNvSpPr/>
          <p:nvPr/>
        </p:nvSpPr>
        <p:spPr>
          <a:xfrm>
            <a:off x="6716078" y="1826260"/>
            <a:ext cx="0" cy="2395220"/>
          </a:xfrm>
          <a:prstGeom prst="line">
            <a:avLst/>
          </a:prstGeom>
          <a:noFill/>
          <a:ln w="19050">
            <a:solidFill>
              <a:srgbClr val="B4532A"/>
            </a:solidFill>
            <a:prstDash val="solid"/>
          </a:ln>
        </p:spPr>
      </p:sp>
      <p:sp>
        <p:nvSpPr>
          <p:cNvPr id="7" name="Text 5"/>
          <p:cNvSpPr/>
          <p:nvPr/>
        </p:nvSpPr>
        <p:spPr>
          <a:xfrm>
            <a:off x="6975793" y="1851660"/>
            <a:ext cx="4535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1"/>
                </a:solidFill>
                <a:latin typeface="Arial" pitchFamily="34" charset="0"/>
                <a:ea typeface="Arial" pitchFamily="34" charset="-122"/>
                <a:cs typeface="Arial" pitchFamily="34" charset="-120"/>
              </a:rPr>
              <a:t>Where GPS fails</a:t>
            </a:r>
            <a:endParaRPr lang="en-US" sz="1500" dirty="0"/>
          </a:p>
        </p:txBody>
      </p:sp>
      <p:sp>
        <p:nvSpPr>
          <p:cNvPr id="8" name="Text 6"/>
          <p:cNvSpPr/>
          <p:nvPr/>
        </p:nvSpPr>
        <p:spPr>
          <a:xfrm>
            <a:off x="7073075" y="2207260"/>
            <a:ext cx="4430608" cy="1163320"/>
          </a:xfrm>
          <a:prstGeom prst="rect">
            <a:avLst/>
          </a:prstGeom>
          <a:noFill/>
          <a:ln/>
        </p:spPr>
        <p:txBody>
          <a:bodyPr wrap="square" lIns="0" tIns="0" rIns="0" bIns="0" rtlCol="0" anchor="t">
            <a:normAutofit/>
          </a:bodyPr>
          <a:lstStyle/>
          <a:p>
            <a:pPr algn="l" marL="156718" indent="-156718">
              <a:lnSpc>
                <a:spcPts val="2240"/>
              </a:lnSpc>
              <a:buSzPct val="100000"/>
              <a:buChar char="•"/>
            </a:pPr>
            <a:r>
              <a:rPr lang="en-US" sz="1400" dirty="0">
                <a:solidFill>
                  <a:srgbClr val="3D4A5C"/>
                </a:solidFill>
                <a:latin typeface="Arial" pitchFamily="34" charset="0"/>
                <a:ea typeface="Arial" pitchFamily="34" charset="-122"/>
                <a:cs typeface="Arial" pitchFamily="34" charset="-120"/>
              </a:rPr>
              <a:t>Indoors and under roofs</a:t>
            </a:r>
            <a:endParaRPr lang="en-US" sz="1400" dirty="0"/>
          </a:p>
          <a:p>
            <a:pPr algn="l" marL="156718" indent="-156718">
              <a:lnSpc>
                <a:spcPts val="2240"/>
              </a:lnSpc>
              <a:buSzPct val="100000"/>
              <a:buChar char="•"/>
            </a:pPr>
            <a:r>
              <a:rPr lang="en-US" sz="1400" dirty="0">
                <a:solidFill>
                  <a:srgbClr val="3D4A5C"/>
                </a:solidFill>
                <a:latin typeface="Arial" pitchFamily="34" charset="0"/>
                <a:ea typeface="Arial" pitchFamily="34" charset="-122"/>
                <a:cs typeface="Arial" pitchFamily="34" charset="-120"/>
              </a:rPr>
              <a:t>Under tree canopy</a:t>
            </a:r>
            <a:endParaRPr lang="en-US" sz="1400" dirty="0"/>
          </a:p>
          <a:p>
            <a:pPr algn="l" marL="156718" indent="-156718">
              <a:lnSpc>
                <a:spcPts val="2240"/>
              </a:lnSpc>
              <a:buSzPct val="100000"/>
              <a:buChar char="•"/>
            </a:pPr>
            <a:r>
              <a:rPr lang="en-US" sz="1400" dirty="0">
                <a:solidFill>
                  <a:srgbClr val="3D4A5C"/>
                </a:solidFill>
                <a:latin typeface="Arial" pitchFamily="34" charset="0"/>
                <a:ea typeface="Arial" pitchFamily="34" charset="-122"/>
                <a:cs typeface="Arial" pitchFamily="34" charset="-120"/>
              </a:rPr>
              <a:t>Between tall buildings</a:t>
            </a:r>
            <a:endParaRPr lang="en-US" sz="1400" dirty="0"/>
          </a:p>
          <a:p>
            <a:pPr algn="l" marL="156718" indent="-156718">
              <a:lnSpc>
                <a:spcPts val="2240"/>
              </a:lnSpc>
              <a:buSzPct val="100000"/>
              <a:buChar char="•"/>
            </a:pPr>
            <a:r>
              <a:rPr lang="en-US" sz="1400" dirty="0">
                <a:solidFill>
                  <a:srgbClr val="3D4A5C"/>
                </a:solidFill>
                <a:latin typeface="Arial" pitchFamily="34" charset="0"/>
                <a:ea typeface="Arial" pitchFamily="34" charset="-122"/>
                <a:cs typeface="Arial" pitchFamily="34" charset="-120"/>
              </a:rPr>
              <a:t>Near radio interference</a:t>
            </a:r>
            <a:endParaRPr lang="en-US" sz="1400" dirty="0"/>
          </a:p>
        </p:txBody>
      </p:sp>
      <p:sp>
        <p:nvSpPr>
          <p:cNvPr id="9" name="Text 7"/>
          <p:cNvSpPr/>
          <p:nvPr/>
        </p:nvSpPr>
        <p:spPr>
          <a:xfrm>
            <a:off x="6975793" y="3573780"/>
            <a:ext cx="4535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1"/>
                </a:solidFill>
                <a:latin typeface="Arial" pitchFamily="34" charset="0"/>
                <a:ea typeface="Arial" pitchFamily="34" charset="-122"/>
                <a:cs typeface="Arial" pitchFamily="34" charset="-120"/>
              </a:rPr>
              <a:t>Project title</a:t>
            </a:r>
            <a:endParaRPr lang="en-US" sz="1500" dirty="0"/>
          </a:p>
        </p:txBody>
      </p:sp>
      <p:sp>
        <p:nvSpPr>
          <p:cNvPr id="10" name="Text 8"/>
          <p:cNvSpPr/>
          <p:nvPr/>
        </p:nvSpPr>
        <p:spPr>
          <a:xfrm>
            <a:off x="6975793" y="3929380"/>
            <a:ext cx="453551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C"/>
                </a:solidFill>
                <a:latin typeface="Arial" pitchFamily="34" charset="0"/>
                <a:ea typeface="Arial" pitchFamily="34" charset="-122"/>
                <a:cs typeface="Arial" pitchFamily="34" charset="-120"/>
              </a:rPr>
              <a:t>AI-Integrated GPS-Denied Autonomous Drone</a:t>
            </a:r>
            <a:endParaRPr lang="en-US" sz="1400" dirty="0"/>
          </a:p>
        </p:txBody>
      </p:sp>
      <p:sp>
        <p:nvSpPr>
          <p:cNvPr id="11" name="Text 9"/>
          <p:cNvSpPr/>
          <p:nvPr/>
        </p:nvSpPr>
        <p:spPr>
          <a:xfrm>
            <a:off x="812800" y="6238241"/>
            <a:ext cx="26431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GPS-Denied Autonomous Drone</a:t>
            </a:r>
            <a:endParaRPr lang="en-US" sz="1200" dirty="0"/>
          </a:p>
        </p:txBody>
      </p:sp>
      <p:sp>
        <p:nvSpPr>
          <p:cNvPr id="12" name="Text 10"/>
          <p:cNvSpPr/>
          <p:nvPr/>
        </p:nvSpPr>
        <p:spPr>
          <a:xfrm>
            <a:off x="11243628" y="6238241"/>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480"/>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2A"/>
                </a:solidFill>
                <a:latin typeface="Arial" pitchFamily="34" charset="0"/>
                <a:ea typeface="Arial" pitchFamily="34" charset="-122"/>
                <a:cs typeface="Arial" pitchFamily="34" charset="-120"/>
              </a:rPr>
              <a:t>02</a:t>
            </a:r>
            <a:endParaRPr lang="en-US" sz="1200" dirty="0"/>
          </a:p>
        </p:txBody>
      </p:sp>
      <p:sp>
        <p:nvSpPr>
          <p:cNvPr id="3" name="Text 1"/>
          <p:cNvSpPr/>
          <p:nvPr>
            <p:ph type="title"/>
          </p:nvPr>
        </p:nvSpPr>
        <p:spPr>
          <a:xfrm>
            <a:off x="812800" y="1102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A41"/>
                </a:solidFill>
                <a:latin typeface="Georgia" pitchFamily="18" charset="0"/>
                <a:ea typeface="Georgia" pitchFamily="18" charset="-122"/>
                <a:cs typeface="Georgia" pitchFamily="18" charset="-120"/>
              </a:rPr>
              <a:t>Abstract &amp; Introduction</a:t>
            </a:r>
            <a:endParaRPr lang="en-US" sz="3000" dirty="0"/>
          </a:p>
        </p:txBody>
      </p:sp>
      <p:sp>
        <p:nvSpPr>
          <p:cNvPr id="4" name="Text 2"/>
          <p:cNvSpPr/>
          <p:nvPr/>
        </p:nvSpPr>
        <p:spPr>
          <a:xfrm>
            <a:off x="812800" y="1826261"/>
            <a:ext cx="5697511" cy="112776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3D4A5C"/>
                </a:solidFill>
                <a:latin typeface="Arial" pitchFamily="34" charset="0"/>
                <a:ea typeface="Arial" pitchFamily="34" charset="-122"/>
                <a:cs typeface="Arial" pitchFamily="34" charset="-120"/>
              </a:rPr>
              <a:t>A Raspberry Pi 5 running ROS 2 reads a stereo camera and an inertial sensor, estimates the drone's motion by visual-inertial odometry, and computes depth. A flight controller running ArduPilot fuses that estimate with its own sensors.</a:t>
            </a:r>
            <a:endParaRPr lang="en-US" sz="1400" dirty="0"/>
          </a:p>
        </p:txBody>
      </p:sp>
      <p:sp>
        <p:nvSpPr>
          <p:cNvPr id="5" name="Text 3"/>
          <p:cNvSpPr/>
          <p:nvPr/>
        </p:nvSpPr>
        <p:spPr>
          <a:xfrm>
            <a:off x="812800" y="3081020"/>
            <a:ext cx="5697511" cy="112776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3D4A5C"/>
                </a:solidFill>
                <a:latin typeface="Arial" pitchFamily="34" charset="0"/>
                <a:ea typeface="Arial" pitchFamily="34" charset="-122"/>
                <a:cs typeface="Arial" pitchFamily="34" charset="-120"/>
              </a:rPr>
              <a:t>While GPS is healthy the vision estimate is aligned to it in the background. When GPS is judged unusable, the flight controller is told to switch its position source to vision. A small neural network labels objects in view and stereo depth gives their distance.</a:t>
            </a:r>
            <a:endParaRPr lang="en-US" sz="1400" dirty="0"/>
          </a:p>
        </p:txBody>
      </p:sp>
      <p:sp>
        <p:nvSpPr>
          <p:cNvPr id="6" name="Text 4"/>
          <p:cNvSpPr/>
          <p:nvPr/>
        </p:nvSpPr>
        <p:spPr>
          <a:xfrm>
            <a:off x="812800" y="4335780"/>
            <a:ext cx="5697511" cy="30099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3D4A5C"/>
                </a:solidFill>
                <a:latin typeface="Arial" pitchFamily="34" charset="0"/>
                <a:ea typeface="Arial" pitchFamily="34" charset="-122"/>
                <a:cs typeface="Arial" pitchFamily="34" charset="-120"/>
              </a:rPr>
              <a:t>A safety pilot can take control at any time.</a:t>
            </a:r>
            <a:endParaRPr lang="en-US" sz="1400" dirty="0"/>
          </a:p>
        </p:txBody>
      </p:sp>
      <p:sp>
        <p:nvSpPr>
          <p:cNvPr id="7" name="Text 5"/>
          <p:cNvSpPr/>
          <p:nvPr/>
        </p:nvSpPr>
        <p:spPr>
          <a:xfrm>
            <a:off x="6953965" y="1826261"/>
            <a:ext cx="45579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1"/>
                </a:solidFill>
                <a:latin typeface="Arial" pitchFamily="34" charset="0"/>
                <a:ea typeface="Arial" pitchFamily="34" charset="-122"/>
                <a:cs typeface="Arial" pitchFamily="34" charset="-120"/>
              </a:rPr>
              <a:t>Objectives</a:t>
            </a:r>
            <a:endParaRPr lang="en-US" sz="1500" dirty="0"/>
          </a:p>
        </p:txBody>
      </p:sp>
      <p:sp>
        <p:nvSpPr>
          <p:cNvPr id="8" name="Text 6"/>
          <p:cNvSpPr/>
          <p:nvPr/>
        </p:nvSpPr>
        <p:spPr>
          <a:xfrm>
            <a:off x="6953965" y="2232661"/>
            <a:ext cx="355600"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4532A"/>
                </a:solidFill>
                <a:latin typeface="Georgia" pitchFamily="18" charset="0"/>
                <a:ea typeface="Georgia" pitchFamily="18" charset="-122"/>
                <a:cs typeface="Georgia" pitchFamily="18" charset="-120"/>
              </a:rPr>
              <a:t>1</a:t>
            </a:r>
            <a:endParaRPr lang="en-US" sz="2200" dirty="0"/>
          </a:p>
        </p:txBody>
      </p:sp>
      <p:sp>
        <p:nvSpPr>
          <p:cNvPr id="9" name="Text 7"/>
          <p:cNvSpPr/>
          <p:nvPr/>
        </p:nvSpPr>
        <p:spPr>
          <a:xfrm>
            <a:off x="7411165" y="2232661"/>
            <a:ext cx="4087077"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A5C"/>
                </a:solidFill>
                <a:latin typeface="Arial" pitchFamily="34" charset="0"/>
                <a:ea typeface="Arial" pitchFamily="34" charset="-122"/>
                <a:cs typeface="Arial" pitchFamily="34" charset="-120"/>
              </a:rPr>
              <a:t>Detect GPS degradation before position is lost</a:t>
            </a:r>
            <a:endParaRPr lang="en-US" sz="1400" dirty="0"/>
          </a:p>
        </p:txBody>
      </p:sp>
      <p:sp>
        <p:nvSpPr>
          <p:cNvPr id="10" name="Text 8"/>
          <p:cNvSpPr/>
          <p:nvPr/>
        </p:nvSpPr>
        <p:spPr>
          <a:xfrm>
            <a:off x="6953965" y="2689861"/>
            <a:ext cx="355600"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4532A"/>
                </a:solidFill>
                <a:latin typeface="Georgia" pitchFamily="18" charset="0"/>
                <a:ea typeface="Georgia" pitchFamily="18" charset="-122"/>
                <a:cs typeface="Georgia" pitchFamily="18" charset="-120"/>
              </a:rPr>
              <a:t>2</a:t>
            </a:r>
            <a:endParaRPr lang="en-US" sz="2200" dirty="0"/>
          </a:p>
        </p:txBody>
      </p:sp>
      <p:sp>
        <p:nvSpPr>
          <p:cNvPr id="11" name="Text 9"/>
          <p:cNvSpPr/>
          <p:nvPr/>
        </p:nvSpPr>
        <p:spPr>
          <a:xfrm>
            <a:off x="7411165" y="2689861"/>
            <a:ext cx="4087077"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A5C"/>
                </a:solidFill>
                <a:latin typeface="Arial" pitchFamily="34" charset="0"/>
                <a:ea typeface="Arial" pitchFamily="34" charset="-122"/>
                <a:cs typeface="Arial" pitchFamily="34" charset="-120"/>
              </a:rPr>
              <a:t>Hand over to vision without landing</a:t>
            </a:r>
            <a:endParaRPr lang="en-US" sz="1400" dirty="0"/>
          </a:p>
        </p:txBody>
      </p:sp>
      <p:sp>
        <p:nvSpPr>
          <p:cNvPr id="12" name="Text 10"/>
          <p:cNvSpPr/>
          <p:nvPr/>
        </p:nvSpPr>
        <p:spPr>
          <a:xfrm>
            <a:off x="6953965" y="3147061"/>
            <a:ext cx="355600"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4532A"/>
                </a:solidFill>
                <a:latin typeface="Georgia" pitchFamily="18" charset="0"/>
                <a:ea typeface="Georgia" pitchFamily="18" charset="-122"/>
                <a:cs typeface="Georgia" pitchFamily="18" charset="-120"/>
              </a:rPr>
              <a:t>3</a:t>
            </a:r>
            <a:endParaRPr lang="en-US" sz="2200" dirty="0"/>
          </a:p>
        </p:txBody>
      </p:sp>
      <p:sp>
        <p:nvSpPr>
          <p:cNvPr id="13" name="Text 11"/>
          <p:cNvSpPr/>
          <p:nvPr/>
        </p:nvSpPr>
        <p:spPr>
          <a:xfrm>
            <a:off x="7411165" y="3147061"/>
            <a:ext cx="4087077"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A5C"/>
                </a:solidFill>
                <a:latin typeface="Arial" pitchFamily="34" charset="0"/>
                <a:ea typeface="Arial" pitchFamily="34" charset="-122"/>
                <a:cs typeface="Arial" pitchFamily="34" charset="-120"/>
              </a:rPr>
              <a:t>Sense obstacles ahead and stop</a:t>
            </a:r>
            <a:endParaRPr lang="en-US" sz="1400" dirty="0"/>
          </a:p>
        </p:txBody>
      </p:sp>
      <p:sp>
        <p:nvSpPr>
          <p:cNvPr id="14" name="Text 12"/>
          <p:cNvSpPr/>
          <p:nvPr/>
        </p:nvSpPr>
        <p:spPr>
          <a:xfrm>
            <a:off x="6953965" y="3604261"/>
            <a:ext cx="355600"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4532A"/>
                </a:solidFill>
                <a:latin typeface="Georgia" pitchFamily="18" charset="0"/>
                <a:ea typeface="Georgia" pitchFamily="18" charset="-122"/>
                <a:cs typeface="Georgia" pitchFamily="18" charset="-120"/>
              </a:rPr>
              <a:t>4</a:t>
            </a:r>
            <a:endParaRPr lang="en-US" sz="2200" dirty="0"/>
          </a:p>
        </p:txBody>
      </p:sp>
      <p:sp>
        <p:nvSpPr>
          <p:cNvPr id="15" name="Text 13"/>
          <p:cNvSpPr/>
          <p:nvPr/>
        </p:nvSpPr>
        <p:spPr>
          <a:xfrm>
            <a:off x="7411165" y="3604261"/>
            <a:ext cx="4087077"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A5C"/>
                </a:solidFill>
                <a:latin typeface="Arial" pitchFamily="34" charset="0"/>
                <a:ea typeface="Arial" pitchFamily="34" charset="-122"/>
                <a:cs typeface="Arial" pitchFamily="34" charset="-120"/>
              </a:rPr>
              <a:t>Report objects with class and distance</a:t>
            </a:r>
            <a:endParaRPr lang="en-US" sz="1400" dirty="0"/>
          </a:p>
        </p:txBody>
      </p:sp>
      <p:sp>
        <p:nvSpPr>
          <p:cNvPr id="16" name="Text 14"/>
          <p:cNvSpPr/>
          <p:nvPr/>
        </p:nvSpPr>
        <p:spPr>
          <a:xfrm>
            <a:off x="812800" y="6238241"/>
            <a:ext cx="26431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GPS-Denied Autonomous Drone</a:t>
            </a:r>
            <a:endParaRPr lang="en-US" sz="1200" dirty="0"/>
          </a:p>
        </p:txBody>
      </p:sp>
      <p:sp>
        <p:nvSpPr>
          <p:cNvPr id="17" name="Text 15"/>
          <p:cNvSpPr/>
          <p:nvPr/>
        </p:nvSpPr>
        <p:spPr>
          <a:xfrm>
            <a:off x="11243628" y="6238241"/>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480"/>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2A"/>
                </a:solidFill>
                <a:latin typeface="Arial" pitchFamily="34" charset="0"/>
                <a:ea typeface="Arial" pitchFamily="34" charset="-122"/>
                <a:cs typeface="Arial" pitchFamily="34" charset="-120"/>
              </a:rPr>
              <a:t>03</a:t>
            </a:r>
            <a:endParaRPr lang="en-US" sz="1200" dirty="0"/>
          </a:p>
        </p:txBody>
      </p:sp>
      <p:sp>
        <p:nvSpPr>
          <p:cNvPr id="3" name="Text 1"/>
          <p:cNvSpPr/>
          <p:nvPr>
            <p:ph type="title"/>
          </p:nvPr>
        </p:nvSpPr>
        <p:spPr>
          <a:xfrm>
            <a:off x="812800" y="1102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A41"/>
                </a:solidFill>
                <a:latin typeface="Georgia" pitchFamily="18" charset="0"/>
                <a:ea typeface="Georgia" pitchFamily="18" charset="-122"/>
                <a:cs typeface="Georgia" pitchFamily="18" charset="-120"/>
              </a:rPr>
              <a:t>Literature Survey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09421"/>
          <a:ext cx="10556240" cy="2194560"/>
        </p:xfrm>
        <a:graphic>
          <a:graphicData uri="http://schemas.openxmlformats.org/drawingml/2006/table">
            <a:tbl>
              <a:tblPr/>
              <a:tblGrid>
                <a:gridCol w="3061310"/>
                <a:gridCol w="3061310"/>
                <a:gridCol w="4433621"/>
              </a:tblGrid>
              <a:tr h="330200">
                <a:tc>
                  <a:txBody>
                    <a:bodyPr/>
                    <a:lstStyle/>
                    <a:p>
                      <a:pPr indent="0" marL="0">
                        <a:lnSpc>
                          <a:spcPts val="1680"/>
                        </a:lnSpc>
                        <a:buNone/>
                      </a:pPr>
                      <a:r>
                        <a:rPr lang="en-US" sz="1200" b="1" dirty="0">
                          <a:solidFill>
                            <a:srgbClr val="1B2A41"/>
                          </a:solidFill>
                          <a:latin typeface="Arial" pitchFamily="34" charset="0"/>
                          <a:ea typeface="Arial" pitchFamily="34" charset="-122"/>
                          <a:cs typeface="Arial" pitchFamily="34" charset="-120"/>
                        </a:rPr>
                        <a:t>Work</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B2A41"/>
                          </a:solidFill>
                          <a:latin typeface="Arial" pitchFamily="34" charset="0"/>
                          <a:ea typeface="Arial" pitchFamily="34" charset="-122"/>
                          <a:cs typeface="Arial" pitchFamily="34" charset="-120"/>
                        </a:rPr>
                        <a:t>Approach</a:t>
                      </a:r>
                      <a:endParaRPr lang="en-US" sz="1200" dirty="0">
                        <a:latin typeface="Arial" charset="0"/>
                        <a:ea typeface="Arial" charset="0"/>
                        <a:cs typeface="Arial"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B2A41"/>
                          </a:solidFill>
                          <a:latin typeface="Arial" pitchFamily="34" charset="0"/>
                          <a:ea typeface="Arial" pitchFamily="34" charset="-122"/>
                          <a:cs typeface="Arial" pitchFamily="34" charset="-120"/>
                        </a:rPr>
                        <a:t>Relevance to this project</a:t>
                      </a:r>
                      <a:endParaRPr lang="en-US" sz="1200" dirty="0">
                        <a:latin typeface="Arial" charset="0"/>
                        <a:ea typeface="Arial" charset="0"/>
                        <a:cs typeface="Arial"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543560">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OpenVINS, Geneva et al., 2020</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Filter-based stereo VIO (MSCKF)</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Light enough for a Pi 5; estimates camera–IMU time offset online</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30200">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VINS-Fusion, Qin et al., 2019</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Optimisation-based stereo VIO</a:t>
                      </a:r>
                      <a:endParaRPr lang="en-US" sz="1200" dirty="0">
                        <a:latin typeface="Arial" charset="0"/>
                        <a:ea typeface="Arial" charset="0"/>
                        <a:cs typeface="Arial" charset="0"/>
                      </a:endParaRPr>
                    </a:p>
                  </a:txBody>
                  <a:tcPr marL="53340" marR="53340" marT="53340" marB="5334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Accurate but heavier; ROS 2 only through community ports</a:t>
                      </a:r>
                      <a:endParaRPr lang="en-US" sz="1200" dirty="0">
                        <a:latin typeface="Arial" charset="0"/>
                        <a:ea typeface="Arial" charset="0"/>
                        <a:cs typeface="Arial" charset="0"/>
                      </a:endParaRPr>
                    </a:p>
                  </a:txBody>
                  <a:tcPr marL="53340" marR="53340" marT="53340" marB="5334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r>
              <a:tr h="330200">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ORB-SLAM3, Campos et al., 2021</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Visual-inertial SLAM with loop closure</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Too heavy for a shared CPU; no official ROS 2 support</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30200">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RTAB-Map, Labbé &amp; Michaud, 2019</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Graph SLAM with stereo odometry</a:t>
                      </a:r>
                      <a:endParaRPr lang="en-US" sz="1200" dirty="0">
                        <a:latin typeface="Arial" charset="0"/>
                        <a:ea typeface="Arial" charset="0"/>
                        <a:cs typeface="Arial" charset="0"/>
                      </a:endParaRPr>
                    </a:p>
                  </a:txBody>
                  <a:tcPr marL="53340" marR="53340" marT="53340" marB="5334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Usable as a visual-only backup odometry</a:t>
                      </a:r>
                      <a:endParaRPr lang="en-US" sz="1200" dirty="0">
                        <a:latin typeface="Arial" charset="0"/>
                        <a:ea typeface="Arial" charset="0"/>
                        <a:cs typeface="Arial" charset="0"/>
                      </a:endParaRPr>
                    </a:p>
                  </a:txBody>
                  <a:tcPr marL="53340" marR="53340" marT="53340" marB="5334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r>
              <a:tr h="330200">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Delmerico &amp; Scaramuzza, 2018</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Benchmark of VIO on embedded boards</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Filter-based methods suit small processors</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5" name="Text 2"/>
          <p:cNvSpPr/>
          <p:nvPr/>
        </p:nvSpPr>
        <p:spPr>
          <a:xfrm>
            <a:off x="812800" y="4081780"/>
            <a:ext cx="11379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A41"/>
                </a:solidFill>
                <a:latin typeface="Arial" pitchFamily="34" charset="0"/>
                <a:ea typeface="Arial" pitchFamily="34" charset="-122"/>
                <a:cs typeface="Arial" pitchFamily="34" charset="-120"/>
              </a:rPr>
              <a:t>Gap:</a:t>
            </a:r>
            <a:r>
              <a:rPr lang="en-US" sz="1300" dirty="0">
                <a:solidFill>
                  <a:srgbClr val="1B2A41"/>
                </a:solidFill>
                <a:latin typeface="Arial" pitchFamily="34" charset="0"/>
                <a:ea typeface="Arial" pitchFamily="34" charset="-122"/>
                <a:cs typeface="Arial" pitchFamily="34" charset="-120"/>
              </a:rPr>
              <a:t> published results assume global-shutter, hardware-synchronised cameras. Little is reported for low-cost, unsynchronised stereo modules.</a:t>
            </a:r>
            <a:endParaRPr lang="en-US" sz="1300" dirty="0"/>
          </a:p>
        </p:txBody>
      </p:sp>
      <p:sp>
        <p:nvSpPr>
          <p:cNvPr id="6" name="Text 3"/>
          <p:cNvSpPr/>
          <p:nvPr/>
        </p:nvSpPr>
        <p:spPr>
          <a:xfrm>
            <a:off x="812800" y="6238239"/>
            <a:ext cx="26431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GPS-Denied Autonomous Drone</a:t>
            </a:r>
            <a:endParaRPr lang="en-US" sz="1200" dirty="0"/>
          </a:p>
        </p:txBody>
      </p:sp>
      <p:sp>
        <p:nvSpPr>
          <p:cNvPr id="7" name="Text 4"/>
          <p:cNvSpPr/>
          <p:nvPr/>
        </p:nvSpPr>
        <p:spPr>
          <a:xfrm>
            <a:off x="11243628" y="6238239"/>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480"/>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2A"/>
                </a:solidFill>
                <a:latin typeface="Arial" pitchFamily="34" charset="0"/>
                <a:ea typeface="Arial" pitchFamily="34" charset="-122"/>
                <a:cs typeface="Arial" pitchFamily="34" charset="-120"/>
              </a:rPr>
              <a:t>04</a:t>
            </a:r>
            <a:endParaRPr lang="en-US" sz="1200" dirty="0"/>
          </a:p>
        </p:txBody>
      </p:sp>
      <p:sp>
        <p:nvSpPr>
          <p:cNvPr id="3" name="Text 1"/>
          <p:cNvSpPr/>
          <p:nvPr>
            <p:ph type="title"/>
          </p:nvPr>
        </p:nvSpPr>
        <p:spPr>
          <a:xfrm>
            <a:off x="812800" y="1102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A41"/>
                </a:solidFill>
                <a:latin typeface="Georgia" pitchFamily="18" charset="0"/>
                <a:ea typeface="Georgia" pitchFamily="18" charset="-122"/>
                <a:cs typeface="Georgia" pitchFamily="18" charset="-120"/>
              </a:rPr>
              <a:t>System Architecture</a:t>
            </a:r>
            <a:endParaRPr lang="en-US" sz="3000" dirty="0"/>
          </a:p>
        </p:txBody>
      </p:sp>
      <p:sp>
        <p:nvSpPr>
          <p:cNvPr id="4" name="Shape 2"/>
          <p:cNvSpPr/>
          <p:nvPr/>
        </p:nvSpPr>
        <p:spPr>
          <a:xfrm>
            <a:off x="812800" y="2077721"/>
            <a:ext cx="1460500" cy="1699260"/>
          </a:xfrm>
          <a:prstGeom prst="roundRect">
            <a:avLst>
              <a:gd name="adj" fmla="val 3478"/>
            </a:avLst>
          </a:prstGeom>
          <a:solidFill>
            <a:srgbClr val="F1F0EA"/>
          </a:solidFill>
          <a:ln/>
        </p:spPr>
      </p:sp>
      <p:sp>
        <p:nvSpPr>
          <p:cNvPr id="5" name="Text 3"/>
          <p:cNvSpPr/>
          <p:nvPr/>
        </p:nvSpPr>
        <p:spPr>
          <a:xfrm>
            <a:off x="990600" y="2255521"/>
            <a:ext cx="1155700" cy="66548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Stereo camera + IMU</a:t>
            </a:r>
            <a:endParaRPr lang="en-US" sz="1400" dirty="0"/>
          </a:p>
        </p:txBody>
      </p:sp>
      <p:sp>
        <p:nvSpPr>
          <p:cNvPr id="6" name="Text 4"/>
          <p:cNvSpPr/>
          <p:nvPr/>
        </p:nvSpPr>
        <p:spPr>
          <a:xfrm>
            <a:off x="990600" y="2959100"/>
            <a:ext cx="11557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Two image sensors, 60 mm apart</a:t>
            </a:r>
            <a:endParaRPr lang="en-US" sz="1200" dirty="0"/>
          </a:p>
        </p:txBody>
      </p:sp>
      <p:pic>
        <p:nvPicPr>
          <p:cNvPr id="7" name="Image 0" descr="connector">    </p:cNvPr>
          <p:cNvPicPr>
            <a:picLocks noChangeAspect="1"/>
          </p:cNvPicPr>
          <p:nvPr/>
        </p:nvPicPr>
        <p:blipFill>
          <a:blip r:embed="rId1"/>
          <a:srcRect l="0" r="0" t="0" b="0"/>
          <a:stretch/>
        </p:blipFill>
        <p:spPr>
          <a:xfrm>
            <a:off x="2368550" y="2889250"/>
            <a:ext cx="368300" cy="76200"/>
          </a:xfrm>
          <a:prstGeom prst="rect">
            <a:avLst/>
          </a:prstGeom>
        </p:spPr>
      </p:pic>
      <p:sp>
        <p:nvSpPr>
          <p:cNvPr id="8" name="Shape 5"/>
          <p:cNvSpPr/>
          <p:nvPr/>
        </p:nvSpPr>
        <p:spPr>
          <a:xfrm>
            <a:off x="2838450" y="1781811"/>
            <a:ext cx="3911600" cy="2291080"/>
          </a:xfrm>
          <a:prstGeom prst="roundRect">
            <a:avLst>
              <a:gd name="adj" fmla="val 1940"/>
            </a:avLst>
          </a:prstGeom>
          <a:solidFill>
            <a:srgbClr val="FFFFFF"/>
          </a:solidFill>
          <a:ln w="12700">
            <a:solidFill>
              <a:srgbClr val="1B2A41"/>
            </a:solidFill>
            <a:prstDash val="solid"/>
          </a:ln>
        </p:spPr>
      </p:sp>
      <p:sp>
        <p:nvSpPr>
          <p:cNvPr id="9" name="Text 6"/>
          <p:cNvSpPr/>
          <p:nvPr/>
        </p:nvSpPr>
        <p:spPr>
          <a:xfrm>
            <a:off x="3020060" y="1963421"/>
            <a:ext cx="365483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Raspberry Pi 5 · ROS 2 Jazzy</a:t>
            </a:r>
            <a:endParaRPr lang="en-US" sz="1400" dirty="0"/>
          </a:p>
        </p:txBody>
      </p:sp>
      <p:sp>
        <p:nvSpPr>
          <p:cNvPr id="10" name="Text 7"/>
          <p:cNvSpPr/>
          <p:nvPr/>
        </p:nvSpPr>
        <p:spPr>
          <a:xfrm>
            <a:off x="3020060" y="2291082"/>
            <a:ext cx="1736090" cy="553720"/>
          </a:xfrm>
          <a:prstGeom prst="roundRect">
            <a:avLst>
              <a:gd name="adj" fmla="val 6881"/>
            </a:avLst>
          </a:prstGeom>
          <a:solidFill>
            <a:srgbClr val="F1F0EA"/>
          </a:solidFill>
          <a:ln/>
        </p:spPr>
        <p:txBody>
          <a:bodyPr wrap="square" lIns="90441" tIns="52341" rIns="39641" bIns="26941"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Visual-inertial odometry</a:t>
            </a:r>
            <a:endParaRPr lang="en-US" sz="1200" dirty="0"/>
          </a:p>
        </p:txBody>
      </p:sp>
      <p:sp>
        <p:nvSpPr>
          <p:cNvPr id="11" name="Text 8"/>
          <p:cNvSpPr/>
          <p:nvPr/>
        </p:nvSpPr>
        <p:spPr>
          <a:xfrm>
            <a:off x="4832350" y="2291082"/>
            <a:ext cx="1736090" cy="553720"/>
          </a:xfrm>
          <a:prstGeom prst="roundRect">
            <a:avLst>
              <a:gd name="adj" fmla="val 6881"/>
            </a:avLst>
          </a:prstGeom>
          <a:solidFill>
            <a:srgbClr val="F1F0EA"/>
          </a:solidFill>
          <a:ln/>
        </p:spPr>
        <p:txBody>
          <a:bodyPr wrap="square" lIns="90441" tIns="52341" rIns="39641" bIns="26941"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Stereo depth</a:t>
            </a:r>
            <a:endParaRPr lang="en-US" sz="1200" dirty="0"/>
          </a:p>
        </p:txBody>
      </p:sp>
      <p:sp>
        <p:nvSpPr>
          <p:cNvPr id="12" name="Text 9"/>
          <p:cNvSpPr/>
          <p:nvPr/>
        </p:nvSpPr>
        <p:spPr>
          <a:xfrm>
            <a:off x="3020060" y="2921000"/>
            <a:ext cx="1736090" cy="340360"/>
          </a:xfrm>
          <a:prstGeom prst="roundRect">
            <a:avLst>
              <a:gd name="adj" fmla="val 11194"/>
            </a:avLst>
          </a:prstGeom>
          <a:solidFill>
            <a:srgbClr val="F1F0EA"/>
          </a:solidFill>
          <a:ln/>
        </p:spPr>
        <p:txBody>
          <a:bodyPr wrap="square" lIns="90441" tIns="52341" rIns="39641" bIns="26941"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Localisation manager</a:t>
            </a:r>
            <a:endParaRPr lang="en-US" sz="1200" dirty="0"/>
          </a:p>
        </p:txBody>
      </p:sp>
      <p:sp>
        <p:nvSpPr>
          <p:cNvPr id="13" name="Text 10"/>
          <p:cNvSpPr/>
          <p:nvPr/>
        </p:nvSpPr>
        <p:spPr>
          <a:xfrm>
            <a:off x="4832350" y="2921000"/>
            <a:ext cx="1736090" cy="340360"/>
          </a:xfrm>
          <a:prstGeom prst="roundRect">
            <a:avLst>
              <a:gd name="adj" fmla="val 11194"/>
            </a:avLst>
          </a:prstGeom>
          <a:solidFill>
            <a:srgbClr val="F1F0EA"/>
          </a:solidFill>
          <a:ln/>
        </p:spPr>
        <p:txBody>
          <a:bodyPr wrap="square" lIns="90441" tIns="52341" rIns="39641" bIns="26941"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Object detector</a:t>
            </a:r>
            <a:endParaRPr lang="en-US" sz="1200" dirty="0"/>
          </a:p>
        </p:txBody>
      </p:sp>
      <p:sp>
        <p:nvSpPr>
          <p:cNvPr id="14" name="Text 11"/>
          <p:cNvSpPr/>
          <p:nvPr/>
        </p:nvSpPr>
        <p:spPr>
          <a:xfrm>
            <a:off x="3020060" y="3337561"/>
            <a:ext cx="1736090" cy="553720"/>
          </a:xfrm>
          <a:prstGeom prst="roundRect">
            <a:avLst>
              <a:gd name="adj" fmla="val 6881"/>
            </a:avLst>
          </a:prstGeom>
          <a:solidFill>
            <a:srgbClr val="F1F0EA"/>
          </a:solidFill>
          <a:ln/>
        </p:spPr>
        <p:txBody>
          <a:bodyPr wrap="square" lIns="90441" tIns="52341" rIns="39641" bIns="26941"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Navigation-mode manager</a:t>
            </a:r>
            <a:endParaRPr lang="en-US" sz="1200" dirty="0"/>
          </a:p>
        </p:txBody>
      </p:sp>
      <p:sp>
        <p:nvSpPr>
          <p:cNvPr id="15" name="Text 12"/>
          <p:cNvSpPr/>
          <p:nvPr/>
        </p:nvSpPr>
        <p:spPr>
          <a:xfrm>
            <a:off x="4832350" y="3337561"/>
            <a:ext cx="1736090" cy="553720"/>
          </a:xfrm>
          <a:prstGeom prst="roundRect">
            <a:avLst>
              <a:gd name="adj" fmla="val 6881"/>
            </a:avLst>
          </a:prstGeom>
          <a:solidFill>
            <a:srgbClr val="F1F0EA"/>
          </a:solidFill>
          <a:ln/>
        </p:spPr>
        <p:txBody>
          <a:bodyPr wrap="square" lIns="90441" tIns="52341" rIns="39641" bIns="26941"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Navigator and safety</a:t>
            </a:r>
            <a:endParaRPr lang="en-US" sz="1200" dirty="0"/>
          </a:p>
        </p:txBody>
      </p:sp>
      <p:sp>
        <p:nvSpPr>
          <p:cNvPr id="16" name="Text 13"/>
          <p:cNvSpPr/>
          <p:nvPr/>
        </p:nvSpPr>
        <p:spPr>
          <a:xfrm>
            <a:off x="6858000" y="2500632"/>
            <a:ext cx="876300" cy="42164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A7480"/>
                </a:solidFill>
                <a:latin typeface="Arial" pitchFamily="34" charset="0"/>
                <a:ea typeface="Arial" pitchFamily="34" charset="-122"/>
                <a:cs typeface="Arial" pitchFamily="34" charset="-120"/>
              </a:rPr>
              <a:t>MAVLink over UART</a:t>
            </a:r>
            <a:endParaRPr lang="en-US" sz="1200" dirty="0"/>
          </a:p>
        </p:txBody>
      </p:sp>
      <p:pic>
        <p:nvPicPr>
          <p:cNvPr id="17" name="Image 1" descr="arrow-right">    </p:cNvPr>
          <p:cNvPicPr>
            <a:picLocks noChangeAspect="1"/>
          </p:cNvPicPr>
          <p:nvPr/>
        </p:nvPicPr>
        <p:blipFill>
          <a:blip r:embed="rId2"/>
          <a:srcRect l="0" r="0" t="0" b="0"/>
          <a:stretch/>
        </p:blipFill>
        <p:spPr>
          <a:xfrm>
            <a:off x="7092950" y="2947671"/>
            <a:ext cx="406400" cy="177800"/>
          </a:xfrm>
          <a:prstGeom prst="rect">
            <a:avLst/>
          </a:prstGeom>
        </p:spPr>
      </p:pic>
      <p:pic>
        <p:nvPicPr>
          <p:cNvPr id="18" name="Image 2" descr="arrow-left">    </p:cNvPr>
          <p:cNvPicPr>
            <a:picLocks noChangeAspect="1"/>
          </p:cNvPicPr>
          <p:nvPr/>
        </p:nvPicPr>
        <p:blipFill>
          <a:blip r:embed="rId3"/>
          <a:srcRect l="0" r="0" t="0" b="0"/>
          <a:stretch/>
        </p:blipFill>
        <p:spPr>
          <a:xfrm>
            <a:off x="7092950" y="3176271"/>
            <a:ext cx="406400" cy="177800"/>
          </a:xfrm>
          <a:prstGeom prst="rect">
            <a:avLst/>
          </a:prstGeom>
        </p:spPr>
      </p:pic>
      <p:sp>
        <p:nvSpPr>
          <p:cNvPr id="19" name="Shape 14"/>
          <p:cNvSpPr/>
          <p:nvPr/>
        </p:nvSpPr>
        <p:spPr>
          <a:xfrm>
            <a:off x="7835900" y="2291082"/>
            <a:ext cx="1905000" cy="1272540"/>
          </a:xfrm>
          <a:prstGeom prst="roundRect">
            <a:avLst>
              <a:gd name="adj" fmla="val 3992"/>
            </a:avLst>
          </a:prstGeom>
          <a:solidFill>
            <a:srgbClr val="1B2A41"/>
          </a:solidFill>
          <a:ln/>
        </p:spPr>
      </p:sp>
      <p:sp>
        <p:nvSpPr>
          <p:cNvPr id="20" name="Text 15"/>
          <p:cNvSpPr/>
          <p:nvPr/>
        </p:nvSpPr>
        <p:spPr>
          <a:xfrm>
            <a:off x="8013700" y="2468882"/>
            <a:ext cx="1600200"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2EC"/>
                </a:solidFill>
                <a:latin typeface="Arial" pitchFamily="34" charset="0"/>
                <a:ea typeface="Arial" pitchFamily="34" charset="-122"/>
                <a:cs typeface="Arial" pitchFamily="34" charset="-120"/>
              </a:rPr>
              <a:t>Pixhawk 6C · ArduPilot</a:t>
            </a:r>
            <a:endParaRPr lang="en-US" sz="1400" dirty="0"/>
          </a:p>
        </p:txBody>
      </p:sp>
      <p:sp>
        <p:nvSpPr>
          <p:cNvPr id="21" name="Text 16"/>
          <p:cNvSpPr/>
          <p:nvPr/>
        </p:nvSpPr>
        <p:spPr>
          <a:xfrm>
            <a:off x="8013700" y="2959100"/>
            <a:ext cx="1600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CD8"/>
                </a:solidFill>
                <a:latin typeface="Arial" pitchFamily="34" charset="0"/>
                <a:ea typeface="Arial" pitchFamily="34" charset="-122"/>
                <a:cs typeface="Arial" pitchFamily="34" charset="-120"/>
              </a:rPr>
              <a:t>Sensor fusion (EKF3), flight control, failsafes</a:t>
            </a:r>
            <a:endParaRPr lang="en-US" sz="1200" dirty="0"/>
          </a:p>
        </p:txBody>
      </p:sp>
      <p:pic>
        <p:nvPicPr>
          <p:cNvPr id="22" name="Image 3" descr="connector">    </p:cNvPr>
          <p:cNvPicPr>
            <a:picLocks noChangeAspect="1"/>
          </p:cNvPicPr>
          <p:nvPr/>
        </p:nvPicPr>
        <p:blipFill>
          <a:blip r:embed="rId4"/>
          <a:srcRect l="0" r="0" t="0" b="0"/>
          <a:stretch/>
        </p:blipFill>
        <p:spPr>
          <a:xfrm>
            <a:off x="9836150" y="2889250"/>
            <a:ext cx="368300" cy="76200"/>
          </a:xfrm>
          <a:prstGeom prst="rect">
            <a:avLst/>
          </a:prstGeom>
        </p:spPr>
      </p:pic>
      <p:sp>
        <p:nvSpPr>
          <p:cNvPr id="23" name="Text 17"/>
          <p:cNvSpPr/>
          <p:nvPr/>
        </p:nvSpPr>
        <p:spPr>
          <a:xfrm>
            <a:off x="10299700" y="2429511"/>
            <a:ext cx="1079500" cy="995680"/>
          </a:xfrm>
          <a:prstGeom prst="roundRect">
            <a:avLst>
              <a:gd name="adj" fmla="val 5102"/>
            </a:avLst>
          </a:prstGeom>
          <a:solidFill>
            <a:srgbClr val="F1F0EA"/>
          </a:solidFill>
          <a:ln/>
        </p:spPr>
        <p:txBody>
          <a:bodyPr wrap="square" lIns="112121" tIns="162921" rIns="61321" bIns="137521"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ESCs and motors</a:t>
            </a:r>
            <a:endParaRPr lang="en-US" sz="1400" dirty="0"/>
          </a:p>
        </p:txBody>
      </p:sp>
      <p:sp>
        <p:nvSpPr>
          <p:cNvPr id="24" name="Shape 18"/>
          <p:cNvSpPr/>
          <p:nvPr/>
        </p:nvSpPr>
        <p:spPr>
          <a:xfrm>
            <a:off x="812800" y="4336414"/>
            <a:ext cx="10566400" cy="0"/>
          </a:xfrm>
          <a:prstGeom prst="line">
            <a:avLst/>
          </a:prstGeom>
          <a:noFill/>
          <a:ln w="6350">
            <a:solidFill>
              <a:srgbClr val="D9D8D0"/>
            </a:solidFill>
            <a:prstDash val="solid"/>
          </a:ln>
        </p:spPr>
      </p:sp>
      <p:sp>
        <p:nvSpPr>
          <p:cNvPr id="25" name="Text 19"/>
          <p:cNvSpPr/>
          <p:nvPr/>
        </p:nvSpPr>
        <p:spPr>
          <a:xfrm>
            <a:off x="812800" y="4516121"/>
            <a:ext cx="5284724"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B2A41"/>
                </a:solidFill>
                <a:latin typeface="Arial" pitchFamily="34" charset="0"/>
                <a:ea typeface="Arial" pitchFamily="34" charset="-122"/>
                <a:cs typeface="Arial" pitchFamily="34" charset="-120"/>
              </a:rPr>
              <a:t>Directly into the flight controller:</a:t>
            </a:r>
            <a:r>
              <a:rPr lang="en-US" sz="1300" dirty="0">
                <a:solidFill>
                  <a:srgbClr val="3D4A5C"/>
                </a:solidFill>
                <a:latin typeface="Arial" pitchFamily="34" charset="0"/>
                <a:ea typeface="Arial" pitchFamily="34" charset="-122"/>
                <a:cs typeface="Arial" pitchFamily="34" charset="-120"/>
              </a:rPr>
              <a:t> GPS and compass, optical flow and range sensor, RC from the SIYI MK15.</a:t>
            </a:r>
            <a:endParaRPr lang="en-US" sz="1300" dirty="0"/>
          </a:p>
        </p:txBody>
      </p:sp>
      <p:sp>
        <p:nvSpPr>
          <p:cNvPr id="26" name="Text 20"/>
          <p:cNvSpPr/>
          <p:nvPr/>
        </p:nvSpPr>
        <p:spPr>
          <a:xfrm>
            <a:off x="6248400" y="4516121"/>
            <a:ext cx="5284724"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B2A41"/>
                </a:solidFill>
                <a:latin typeface="Arial" pitchFamily="34" charset="0"/>
                <a:ea typeface="Arial" pitchFamily="34" charset="-122"/>
                <a:cs typeface="Arial" pitchFamily="34" charset="-120"/>
              </a:rPr>
              <a:t>Design rule:</a:t>
            </a:r>
            <a:r>
              <a:rPr lang="en-US" sz="1300" dirty="0">
                <a:solidFill>
                  <a:srgbClr val="3D4A5C"/>
                </a:solidFill>
                <a:latin typeface="Arial" pitchFamily="34" charset="0"/>
                <a:ea typeface="Arial" pitchFamily="34" charset="-122"/>
                <a:cs typeface="Arial" pitchFamily="34" charset="-120"/>
              </a:rPr>
              <a:t> the flight controller flies; the Raspberry Pi advises. The drone stays flyable with the Pi unplugged.</a:t>
            </a:r>
            <a:endParaRPr lang="en-US" sz="1300" dirty="0"/>
          </a:p>
        </p:txBody>
      </p:sp>
      <p:sp>
        <p:nvSpPr>
          <p:cNvPr id="27" name="Text 21"/>
          <p:cNvSpPr/>
          <p:nvPr/>
        </p:nvSpPr>
        <p:spPr>
          <a:xfrm>
            <a:off x="812800" y="6238239"/>
            <a:ext cx="26431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GPS-Denied Autonomous Drone</a:t>
            </a:r>
            <a:endParaRPr lang="en-US" sz="1200" dirty="0"/>
          </a:p>
        </p:txBody>
      </p:sp>
      <p:sp>
        <p:nvSpPr>
          <p:cNvPr id="28" name="Text 22"/>
          <p:cNvSpPr/>
          <p:nvPr/>
        </p:nvSpPr>
        <p:spPr>
          <a:xfrm>
            <a:off x="11243628" y="6238239"/>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480"/>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2A"/>
                </a:solidFill>
                <a:latin typeface="Arial" pitchFamily="34" charset="0"/>
                <a:ea typeface="Arial" pitchFamily="34" charset="-122"/>
                <a:cs typeface="Arial" pitchFamily="34" charset="-120"/>
              </a:rPr>
              <a:t>05</a:t>
            </a:r>
            <a:endParaRPr lang="en-US" sz="1200" dirty="0"/>
          </a:p>
        </p:txBody>
      </p:sp>
      <p:sp>
        <p:nvSpPr>
          <p:cNvPr id="3" name="Text 1"/>
          <p:cNvSpPr/>
          <p:nvPr>
            <p:ph type="title"/>
          </p:nvPr>
        </p:nvSpPr>
        <p:spPr>
          <a:xfrm>
            <a:off x="812800" y="1102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A41"/>
                </a:solidFill>
                <a:latin typeface="Georgia" pitchFamily="18" charset="0"/>
                <a:ea typeface="Georgia" pitchFamily="18" charset="-122"/>
                <a:cs typeface="Georgia" pitchFamily="18" charset="-120"/>
              </a:rPr>
              <a:t>Software Requirement Specification</a:t>
            </a:r>
            <a:endParaRPr lang="en-US" sz="3000" dirty="0"/>
          </a:p>
        </p:txBody>
      </p:sp>
      <p:sp>
        <p:nvSpPr>
          <p:cNvPr id="4" name="Text 2"/>
          <p:cNvSpPr/>
          <p:nvPr/>
        </p:nvSpPr>
        <p:spPr>
          <a:xfrm>
            <a:off x="812800" y="1775461"/>
            <a:ext cx="51800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1"/>
                </a:solidFill>
                <a:latin typeface="Arial" pitchFamily="34" charset="0"/>
                <a:ea typeface="Arial" pitchFamily="34" charset="-122"/>
                <a:cs typeface="Arial" pitchFamily="34" charset="-120"/>
              </a:rPr>
              <a:t>Functional requirements</a:t>
            </a:r>
            <a:endParaRPr lang="en-US" sz="1500" dirty="0"/>
          </a:p>
        </p:txBody>
      </p:sp>
      <p:sp>
        <p:nvSpPr>
          <p:cNvPr id="5" name="Text 3"/>
          <p:cNvSpPr/>
          <p:nvPr/>
        </p:nvSpPr>
        <p:spPr>
          <a:xfrm>
            <a:off x="910844" y="2131061"/>
            <a:ext cx="5074412" cy="1816735"/>
          </a:xfrm>
          <a:prstGeom prst="rect">
            <a:avLst/>
          </a:prstGeom>
          <a:noFill/>
          <a:ln/>
        </p:spPr>
        <p:txBody>
          <a:bodyPr wrap="square" lIns="0" tIns="0" rIns="0" bIns="0" rtlCol="0" anchor="t">
            <a:normAutofit/>
          </a:bodyPr>
          <a:lstStyle/>
          <a:p>
            <a:pPr algn="l" marL="155956" indent="-155956">
              <a:lnSpc>
                <a:spcPts val="2015"/>
              </a:lnSpc>
              <a:buSzPct val="100000"/>
              <a:buChar char="•"/>
            </a:pPr>
            <a:r>
              <a:rPr lang="en-US" sz="1300" dirty="0">
                <a:solidFill>
                  <a:srgbClr val="3D4A5C"/>
                </a:solidFill>
                <a:latin typeface="Arial" pitchFamily="34" charset="0"/>
                <a:ea typeface="Arial" pitchFamily="34" charset="-122"/>
                <a:cs typeface="Arial" pitchFamily="34" charset="-120"/>
              </a:rPr>
              <a:t>Fly on GPS when GPS is healthy</a:t>
            </a:r>
            <a:endParaRPr lang="en-US" sz="1300" dirty="0"/>
          </a:p>
          <a:p>
            <a:pPr algn="l" marL="155956" indent="-155956">
              <a:lnSpc>
                <a:spcPts val="2015"/>
              </a:lnSpc>
              <a:buSzPct val="100000"/>
              <a:buChar char="•"/>
            </a:pPr>
            <a:r>
              <a:rPr lang="en-US" sz="1300" dirty="0">
                <a:solidFill>
                  <a:srgbClr val="3D4A5C"/>
                </a:solidFill>
                <a:latin typeface="Arial" pitchFamily="34" charset="0"/>
                <a:ea typeface="Arial" pitchFamily="34" charset="-122"/>
                <a:cs typeface="Arial" pitchFamily="34" charset="-120"/>
              </a:rPr>
              <a:t>Monitor GPS health and declare denial within 3 s</a:t>
            </a:r>
            <a:endParaRPr lang="en-US" sz="1300" dirty="0"/>
          </a:p>
          <a:p>
            <a:pPr algn="l" marL="155956" indent="-155956">
              <a:lnSpc>
                <a:spcPts val="2015"/>
              </a:lnSpc>
              <a:buSzPct val="100000"/>
              <a:buChar char="•"/>
            </a:pPr>
            <a:r>
              <a:rPr lang="en-US" sz="1300" dirty="0">
                <a:solidFill>
                  <a:srgbClr val="3D4A5C"/>
                </a:solidFill>
                <a:latin typeface="Arial" pitchFamily="34" charset="0"/>
                <a:ea typeface="Arial" pitchFamily="34" charset="-122"/>
                <a:cs typeface="Arial" pitchFamily="34" charset="-120"/>
              </a:rPr>
              <a:t>Switch position source to vision without landing</a:t>
            </a:r>
            <a:endParaRPr lang="en-US" sz="1300" dirty="0"/>
          </a:p>
          <a:p>
            <a:pPr algn="l" marL="155956" indent="-155956">
              <a:lnSpc>
                <a:spcPts val="2015"/>
              </a:lnSpc>
              <a:buSzPct val="100000"/>
              <a:buChar char="•"/>
            </a:pPr>
            <a:r>
              <a:rPr lang="en-US" sz="1300" dirty="0">
                <a:solidFill>
                  <a:srgbClr val="3D4A5C"/>
                </a:solidFill>
                <a:latin typeface="Arial" pitchFamily="34" charset="0"/>
                <a:ea typeface="Arial" pitchFamily="34" charset="-122"/>
                <a:cs typeface="Arial" pitchFamily="34" charset="-120"/>
              </a:rPr>
              <a:t>Produce a depth image and stop for obstacles ahead</a:t>
            </a:r>
            <a:endParaRPr lang="en-US" sz="1300" dirty="0"/>
          </a:p>
          <a:p>
            <a:pPr algn="l" marL="155956" indent="-155956">
              <a:lnSpc>
                <a:spcPts val="2015"/>
              </a:lnSpc>
              <a:buSzPct val="100000"/>
              <a:buChar char="•"/>
            </a:pPr>
            <a:r>
              <a:rPr lang="en-US" sz="1300" dirty="0">
                <a:solidFill>
                  <a:srgbClr val="3D4A5C"/>
                </a:solidFill>
                <a:latin typeface="Arial" pitchFamily="34" charset="0"/>
                <a:ea typeface="Arial" pitchFamily="34" charset="-122"/>
                <a:cs typeface="Arial" pitchFamily="34" charset="-120"/>
              </a:rPr>
              <a:t>Detect objects and report their distance</a:t>
            </a:r>
            <a:endParaRPr lang="en-US" sz="1300" dirty="0"/>
          </a:p>
          <a:p>
            <a:pPr algn="l" marL="155956" indent="-155956">
              <a:lnSpc>
                <a:spcPts val="2015"/>
              </a:lnSpc>
              <a:buSzPct val="100000"/>
              <a:buChar char="•"/>
            </a:pPr>
            <a:r>
              <a:rPr lang="en-US" sz="1300" dirty="0">
                <a:solidFill>
                  <a:srgbClr val="3D4A5C"/>
                </a:solidFill>
                <a:latin typeface="Arial" pitchFamily="34" charset="0"/>
                <a:ea typeface="Arial" pitchFamily="34" charset="-122"/>
                <a:cs typeface="Arial" pitchFamily="34" charset="-120"/>
              </a:rPr>
              <a:t>Log every mode change and every flight</a:t>
            </a:r>
            <a:endParaRPr lang="en-US" sz="1300" dirty="0"/>
          </a:p>
          <a:p>
            <a:pPr algn="l" marL="155956" indent="-155956">
              <a:lnSpc>
                <a:spcPts val="2015"/>
              </a:lnSpc>
              <a:buSzPct val="100000"/>
              <a:buChar char="•"/>
            </a:pPr>
            <a:r>
              <a:rPr lang="en-US" sz="1300" dirty="0">
                <a:solidFill>
                  <a:srgbClr val="3D4A5C"/>
                </a:solidFill>
                <a:latin typeface="Arial" pitchFamily="34" charset="0"/>
                <a:ea typeface="Arial" pitchFamily="34" charset="-122"/>
                <a:cs typeface="Arial" pitchFamily="34" charset="-120"/>
              </a:rPr>
              <a:t>Allow manual override at any time</a:t>
            </a:r>
            <a:endParaRPr lang="en-US" sz="1300" dirty="0"/>
          </a:p>
        </p:txBody>
      </p:sp>
      <p:sp>
        <p:nvSpPr>
          <p:cNvPr id="6" name="Text 4"/>
          <p:cNvSpPr/>
          <p:nvPr/>
        </p:nvSpPr>
        <p:spPr>
          <a:xfrm>
            <a:off x="6350000" y="1775461"/>
            <a:ext cx="51800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1"/>
                </a:solidFill>
                <a:latin typeface="Arial" pitchFamily="34" charset="0"/>
                <a:ea typeface="Arial" pitchFamily="34" charset="-122"/>
                <a:cs typeface="Arial" pitchFamily="34" charset="-120"/>
              </a:rPr>
              <a:t>Non-functional targets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360160" y="2141221"/>
          <a:ext cx="5019040" cy="2498090"/>
        </p:xfrm>
        <a:graphic>
          <a:graphicData uri="http://schemas.openxmlformats.org/drawingml/2006/table">
            <a:tbl>
              <a:tblPr/>
              <a:tblGrid>
                <a:gridCol w="3111805"/>
                <a:gridCol w="1907235"/>
              </a:tblGrid>
              <a:tr h="356870">
                <a:tc>
                  <a:txBody>
                    <a:bodyPr/>
                    <a:lstStyle/>
                    <a:p>
                      <a:pPr indent="0" marL="0">
                        <a:lnSpc>
                          <a:spcPts val="1820"/>
                        </a:lnSpc>
                        <a:buNone/>
                      </a:pPr>
                      <a:r>
                        <a:rPr lang="en-US" sz="1300" b="1" dirty="0">
                          <a:solidFill>
                            <a:srgbClr val="1B2A41"/>
                          </a:solidFill>
                          <a:latin typeface="Arial" pitchFamily="34" charset="0"/>
                          <a:ea typeface="Arial" pitchFamily="34" charset="-122"/>
                          <a:cs typeface="Arial" pitchFamily="34" charset="-120"/>
                        </a:rPr>
                        <a:t>Measure</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820"/>
                        </a:lnSpc>
                        <a:buNone/>
                      </a:pPr>
                      <a:r>
                        <a:rPr lang="en-US" sz="1300" b="1" dirty="0">
                          <a:solidFill>
                            <a:srgbClr val="1B2A41"/>
                          </a:solidFill>
                          <a:latin typeface="Arial" pitchFamily="34" charset="0"/>
                          <a:ea typeface="Arial" pitchFamily="34" charset="-122"/>
                          <a:cs typeface="Arial" pitchFamily="34" charset="-120"/>
                        </a:rPr>
                        <a:t>Target</a:t>
                      </a:r>
                      <a:endParaRPr lang="en-US" sz="1300" dirty="0">
                        <a:latin typeface="Arial" charset="0"/>
                        <a:ea typeface="Arial" charset="0"/>
                        <a:cs typeface="Arial" charset="0"/>
                      </a:endParaRPr>
                    </a:p>
                  </a:txBody>
                  <a:tcPr marL="57785" marR="57785" marT="57785" marB="57785"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Odometry update rate</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 20 Hz</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Left/right camera skew</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 1 ms</a:t>
                      </a:r>
                      <a:endParaRPr lang="en-US" sz="1300" dirty="0">
                        <a:latin typeface="Arial" charset="0"/>
                        <a:ea typeface="Arial" charset="0"/>
                        <a:cs typeface="Arial" charset="0"/>
                      </a:endParaRPr>
                    </a:p>
                  </a:txBody>
                  <a:tcPr marL="57785" marR="57785" marT="57785" marB="57785"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Odometry drift</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 2 % of distance</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Position hold on vision</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 0.5 m RMS</a:t>
                      </a:r>
                      <a:endParaRPr lang="en-US" sz="1300" dirty="0">
                        <a:latin typeface="Arial" charset="0"/>
                        <a:ea typeface="Arial" charset="0"/>
                        <a:cs typeface="Arial" charset="0"/>
                      </a:endParaRPr>
                    </a:p>
                  </a:txBody>
                  <a:tcPr marL="57785" marR="57785" marT="57785" marB="57785"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Object detection rate</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 5 Hz</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CPU load on the Pi</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 75 %</a:t>
                      </a:r>
                      <a:endParaRPr lang="en-US" sz="1300" dirty="0">
                        <a:latin typeface="Arial" charset="0"/>
                        <a:ea typeface="Arial" charset="0"/>
                        <a:cs typeface="Arial" charset="0"/>
                      </a:endParaRPr>
                    </a:p>
                  </a:txBody>
                  <a:tcPr marL="57785" marR="57785" marT="57785" marB="57785"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r>
            </a:tbl>
          </a:graphicData>
        </a:graphic>
      </p:graphicFrame>
      <p:sp>
        <p:nvSpPr>
          <p:cNvPr id="8" name="Text 5"/>
          <p:cNvSpPr/>
          <p:nvPr/>
        </p:nvSpPr>
        <p:spPr>
          <a:xfrm>
            <a:off x="6350000" y="4766311"/>
            <a:ext cx="51800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Design targets. Nothing has been measured yet.</a:t>
            </a:r>
            <a:endParaRPr lang="en-US" sz="1200" dirty="0"/>
          </a:p>
        </p:txBody>
      </p:sp>
      <p:sp>
        <p:nvSpPr>
          <p:cNvPr id="9" name="Text 6"/>
          <p:cNvSpPr/>
          <p:nvPr/>
        </p:nvSpPr>
        <p:spPr>
          <a:xfrm>
            <a:off x="812800" y="6238239"/>
            <a:ext cx="26431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GPS-Denied Autonomous Drone</a:t>
            </a:r>
            <a:endParaRPr lang="en-US" sz="1200" dirty="0"/>
          </a:p>
        </p:txBody>
      </p:sp>
      <p:sp>
        <p:nvSpPr>
          <p:cNvPr id="10" name="Text 7"/>
          <p:cNvSpPr/>
          <p:nvPr/>
        </p:nvSpPr>
        <p:spPr>
          <a:xfrm>
            <a:off x="11243628" y="6238239"/>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480"/>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2A"/>
                </a:solidFill>
                <a:latin typeface="Arial" pitchFamily="34" charset="0"/>
                <a:ea typeface="Arial" pitchFamily="34" charset="-122"/>
                <a:cs typeface="Arial" pitchFamily="34" charset="-120"/>
              </a:rPr>
              <a:t>06</a:t>
            </a:r>
            <a:endParaRPr lang="en-US" sz="1200" dirty="0"/>
          </a:p>
        </p:txBody>
      </p:sp>
      <p:sp>
        <p:nvSpPr>
          <p:cNvPr id="3" name="Text 1"/>
          <p:cNvSpPr/>
          <p:nvPr>
            <p:ph type="title"/>
          </p:nvPr>
        </p:nvSpPr>
        <p:spPr>
          <a:xfrm>
            <a:off x="812800" y="1102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A41"/>
                </a:solidFill>
                <a:latin typeface="Georgia" pitchFamily="18" charset="0"/>
                <a:ea typeface="Georgia" pitchFamily="18" charset="-122"/>
                <a:cs typeface="Georgia" pitchFamily="18" charset="-120"/>
              </a:rPr>
              <a:t>Proposed System</a:t>
            </a:r>
            <a:endParaRPr lang="en-US" sz="3000" dirty="0"/>
          </a:p>
        </p:txBody>
      </p:sp>
      <p:sp>
        <p:nvSpPr>
          <p:cNvPr id="4" name="Text 2"/>
          <p:cNvSpPr/>
          <p:nvPr/>
        </p:nvSpPr>
        <p:spPr>
          <a:xfrm>
            <a:off x="812800" y="1775461"/>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Arial" pitchFamily="34" charset="0"/>
                <a:ea typeface="Arial" pitchFamily="34" charset="-122"/>
                <a:cs typeface="Arial" pitchFamily="34" charset="-120"/>
              </a:rPr>
              <a:t>Four navigation tiers. Each one needs fewer sensors than the tier above it, so every failure has somewhere to fall.</a:t>
            </a:r>
            <a:endParaRPr lang="en-US" sz="1500" dirty="0"/>
          </a:p>
        </p:txBody>
      </p:sp>
      <p:sp>
        <p:nvSpPr>
          <p:cNvPr id="5" name="Shape 3"/>
          <p:cNvSpPr/>
          <p:nvPr/>
        </p:nvSpPr>
        <p:spPr>
          <a:xfrm>
            <a:off x="812800" y="2562861"/>
            <a:ext cx="2279650" cy="1950720"/>
          </a:xfrm>
          <a:prstGeom prst="rect">
            <a:avLst/>
          </a:prstGeom>
          <a:solidFill>
            <a:srgbClr val="F1F0EA"/>
          </a:solidFill>
          <a:ln/>
        </p:spPr>
      </p:sp>
      <p:sp>
        <p:nvSpPr>
          <p:cNvPr id="6" name="Shape 4"/>
          <p:cNvSpPr/>
          <p:nvPr/>
        </p:nvSpPr>
        <p:spPr>
          <a:xfrm>
            <a:off x="812800" y="2581911"/>
            <a:ext cx="2279650" cy="0"/>
          </a:xfrm>
          <a:prstGeom prst="line">
            <a:avLst/>
          </a:prstGeom>
          <a:noFill/>
          <a:ln w="38100">
            <a:solidFill>
              <a:srgbClr val="1B2A41"/>
            </a:solidFill>
            <a:prstDash val="solid"/>
          </a:ln>
        </p:spPr>
      </p:sp>
      <p:sp>
        <p:nvSpPr>
          <p:cNvPr id="7" name="Text 5"/>
          <p:cNvSpPr/>
          <p:nvPr/>
        </p:nvSpPr>
        <p:spPr>
          <a:xfrm>
            <a:off x="1016000" y="2801621"/>
            <a:ext cx="19294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7480"/>
                </a:solidFill>
                <a:latin typeface="Arial" pitchFamily="34" charset="0"/>
                <a:ea typeface="Arial" pitchFamily="34" charset="-122"/>
                <a:cs typeface="Arial" pitchFamily="34" charset="-120"/>
              </a:rPr>
              <a:t>Tier 1</a:t>
            </a:r>
            <a:endParaRPr lang="en-US" sz="1200" dirty="0"/>
          </a:p>
        </p:txBody>
      </p:sp>
      <p:sp>
        <p:nvSpPr>
          <p:cNvPr id="8" name="Text 6"/>
          <p:cNvSpPr/>
          <p:nvPr/>
        </p:nvSpPr>
        <p:spPr>
          <a:xfrm>
            <a:off x="1016000" y="3091182"/>
            <a:ext cx="192944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A41"/>
                </a:solidFill>
                <a:latin typeface="Arial" pitchFamily="34" charset="0"/>
                <a:ea typeface="Arial" pitchFamily="34" charset="-122"/>
                <a:cs typeface="Arial" pitchFamily="34" charset="-120"/>
              </a:rPr>
              <a:t>GPS</a:t>
            </a:r>
            <a:endParaRPr lang="en-US" sz="1700" dirty="0"/>
          </a:p>
        </p:txBody>
      </p:sp>
      <p:sp>
        <p:nvSpPr>
          <p:cNvPr id="9" name="Text 7"/>
          <p:cNvSpPr/>
          <p:nvPr/>
        </p:nvSpPr>
        <p:spPr>
          <a:xfrm>
            <a:off x="1016000" y="3426461"/>
            <a:ext cx="1929448" cy="909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Arial" pitchFamily="34" charset="0"/>
                <a:ea typeface="Arial" pitchFamily="34" charset="-122"/>
                <a:cs typeface="Arial" pitchFamily="34" charset="-120"/>
              </a:rPr>
              <a:t>Normal outdoor flight. Vision runs in the background and is aligned to GPS.</a:t>
            </a:r>
            <a:endParaRPr lang="en-US" sz="1200" dirty="0"/>
          </a:p>
        </p:txBody>
      </p:sp>
      <p:pic>
        <p:nvPicPr>
          <p:cNvPr id="10" name="Image 0" descr="arrow-right">    </p:cNvPr>
          <p:cNvPicPr>
            <a:picLocks noChangeAspect="1"/>
          </p:cNvPicPr>
          <p:nvPr/>
        </p:nvPicPr>
        <p:blipFill>
          <a:blip r:embed="rId1"/>
          <a:srcRect l="0" r="0" t="0" b="0"/>
          <a:stretch/>
        </p:blipFill>
        <p:spPr>
          <a:xfrm>
            <a:off x="3194050" y="3462021"/>
            <a:ext cx="279400" cy="152400"/>
          </a:xfrm>
          <a:prstGeom prst="rect">
            <a:avLst/>
          </a:prstGeom>
        </p:spPr>
      </p:pic>
      <p:sp>
        <p:nvSpPr>
          <p:cNvPr id="11" name="Shape 8"/>
          <p:cNvSpPr/>
          <p:nvPr/>
        </p:nvSpPr>
        <p:spPr>
          <a:xfrm>
            <a:off x="3575050" y="2562861"/>
            <a:ext cx="2279650" cy="1950720"/>
          </a:xfrm>
          <a:prstGeom prst="rect">
            <a:avLst/>
          </a:prstGeom>
          <a:solidFill>
            <a:srgbClr val="F1F0EA"/>
          </a:solidFill>
          <a:ln/>
        </p:spPr>
      </p:sp>
      <p:sp>
        <p:nvSpPr>
          <p:cNvPr id="12" name="Shape 9"/>
          <p:cNvSpPr/>
          <p:nvPr/>
        </p:nvSpPr>
        <p:spPr>
          <a:xfrm>
            <a:off x="3575050" y="2581911"/>
            <a:ext cx="2279650" cy="0"/>
          </a:xfrm>
          <a:prstGeom prst="line">
            <a:avLst/>
          </a:prstGeom>
          <a:noFill/>
          <a:ln w="38100">
            <a:solidFill>
              <a:srgbClr val="B4532A"/>
            </a:solidFill>
            <a:prstDash val="solid"/>
          </a:ln>
        </p:spPr>
      </p:sp>
      <p:sp>
        <p:nvSpPr>
          <p:cNvPr id="13" name="Text 10"/>
          <p:cNvSpPr/>
          <p:nvPr/>
        </p:nvSpPr>
        <p:spPr>
          <a:xfrm>
            <a:off x="3778250" y="2801621"/>
            <a:ext cx="19294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7480"/>
                </a:solidFill>
                <a:latin typeface="Arial" pitchFamily="34" charset="0"/>
                <a:ea typeface="Arial" pitchFamily="34" charset="-122"/>
                <a:cs typeface="Arial" pitchFamily="34" charset="-120"/>
              </a:rPr>
              <a:t>Tier 2</a:t>
            </a:r>
            <a:endParaRPr lang="en-US" sz="1200" dirty="0"/>
          </a:p>
        </p:txBody>
      </p:sp>
      <p:sp>
        <p:nvSpPr>
          <p:cNvPr id="14" name="Text 11"/>
          <p:cNvSpPr/>
          <p:nvPr/>
        </p:nvSpPr>
        <p:spPr>
          <a:xfrm>
            <a:off x="3778250" y="3091182"/>
            <a:ext cx="192944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A41"/>
                </a:solidFill>
                <a:latin typeface="Arial" pitchFamily="34" charset="0"/>
                <a:ea typeface="Arial" pitchFamily="34" charset="-122"/>
                <a:cs typeface="Arial" pitchFamily="34" charset="-120"/>
              </a:rPr>
              <a:t>Vision</a:t>
            </a:r>
            <a:endParaRPr lang="en-US" sz="1700" dirty="0"/>
          </a:p>
        </p:txBody>
      </p:sp>
      <p:sp>
        <p:nvSpPr>
          <p:cNvPr id="15" name="Text 12"/>
          <p:cNvSpPr/>
          <p:nvPr/>
        </p:nvSpPr>
        <p:spPr>
          <a:xfrm>
            <a:off x="3778250" y="3426461"/>
            <a:ext cx="1929448"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Arial" pitchFamily="34" charset="0"/>
                <a:ea typeface="Arial" pitchFamily="34" charset="-122"/>
                <a:cs typeface="Arial" pitchFamily="34" charset="-120"/>
              </a:rPr>
              <a:t>GPS denied. Stereo visual-inertial odometry feeds the flight controller.</a:t>
            </a:r>
            <a:endParaRPr lang="en-US" sz="1200" dirty="0"/>
          </a:p>
        </p:txBody>
      </p:sp>
      <p:pic>
        <p:nvPicPr>
          <p:cNvPr id="16" name="Image 1" descr="arrow-right">    </p:cNvPr>
          <p:cNvPicPr>
            <a:picLocks noChangeAspect="1"/>
          </p:cNvPicPr>
          <p:nvPr/>
        </p:nvPicPr>
        <p:blipFill>
          <a:blip r:embed="rId2"/>
          <a:srcRect l="0" r="0" t="0" b="0"/>
          <a:stretch/>
        </p:blipFill>
        <p:spPr>
          <a:xfrm>
            <a:off x="5956300" y="3462021"/>
            <a:ext cx="279400" cy="152400"/>
          </a:xfrm>
          <a:prstGeom prst="rect">
            <a:avLst/>
          </a:prstGeom>
        </p:spPr>
      </p:pic>
      <p:sp>
        <p:nvSpPr>
          <p:cNvPr id="17" name="Shape 13"/>
          <p:cNvSpPr/>
          <p:nvPr/>
        </p:nvSpPr>
        <p:spPr>
          <a:xfrm>
            <a:off x="6337300" y="2562861"/>
            <a:ext cx="2279650" cy="1950720"/>
          </a:xfrm>
          <a:prstGeom prst="rect">
            <a:avLst/>
          </a:prstGeom>
          <a:solidFill>
            <a:srgbClr val="F1F0EA"/>
          </a:solidFill>
          <a:ln/>
        </p:spPr>
      </p:sp>
      <p:sp>
        <p:nvSpPr>
          <p:cNvPr id="18" name="Shape 14"/>
          <p:cNvSpPr/>
          <p:nvPr/>
        </p:nvSpPr>
        <p:spPr>
          <a:xfrm>
            <a:off x="6337300" y="2581911"/>
            <a:ext cx="2279650" cy="0"/>
          </a:xfrm>
          <a:prstGeom prst="line">
            <a:avLst/>
          </a:prstGeom>
          <a:noFill/>
          <a:ln w="38100">
            <a:solidFill>
              <a:srgbClr val="1B2A41"/>
            </a:solidFill>
            <a:prstDash val="solid"/>
          </a:ln>
        </p:spPr>
      </p:sp>
      <p:sp>
        <p:nvSpPr>
          <p:cNvPr id="19" name="Text 15"/>
          <p:cNvSpPr/>
          <p:nvPr/>
        </p:nvSpPr>
        <p:spPr>
          <a:xfrm>
            <a:off x="6540500" y="2801621"/>
            <a:ext cx="19294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7480"/>
                </a:solidFill>
                <a:latin typeface="Arial" pitchFamily="34" charset="0"/>
                <a:ea typeface="Arial" pitchFamily="34" charset="-122"/>
                <a:cs typeface="Arial" pitchFamily="34" charset="-120"/>
              </a:rPr>
              <a:t>Tier 3</a:t>
            </a:r>
            <a:endParaRPr lang="en-US" sz="1200" dirty="0"/>
          </a:p>
        </p:txBody>
      </p:sp>
      <p:sp>
        <p:nvSpPr>
          <p:cNvPr id="20" name="Text 16"/>
          <p:cNvSpPr/>
          <p:nvPr/>
        </p:nvSpPr>
        <p:spPr>
          <a:xfrm>
            <a:off x="6540500" y="3091182"/>
            <a:ext cx="192944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A41"/>
                </a:solidFill>
                <a:latin typeface="Arial" pitchFamily="34" charset="0"/>
                <a:ea typeface="Arial" pitchFamily="34" charset="-122"/>
                <a:cs typeface="Arial" pitchFamily="34" charset="-120"/>
              </a:rPr>
              <a:t>Optical flow</a:t>
            </a:r>
            <a:endParaRPr lang="en-US" sz="1700" dirty="0"/>
          </a:p>
        </p:txBody>
      </p:sp>
      <p:sp>
        <p:nvSpPr>
          <p:cNvPr id="21" name="Text 17"/>
          <p:cNvSpPr/>
          <p:nvPr/>
        </p:nvSpPr>
        <p:spPr>
          <a:xfrm>
            <a:off x="6540500" y="3426461"/>
            <a:ext cx="1929448"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Arial" pitchFamily="34" charset="0"/>
                <a:ea typeface="Arial" pitchFamily="34" charset="-122"/>
                <a:cs typeface="Arial" pitchFamily="34" charset="-120"/>
              </a:rPr>
              <a:t>Vision lost. A downward sensor holds position without the Pi.</a:t>
            </a:r>
            <a:endParaRPr lang="en-US" sz="1200" dirty="0"/>
          </a:p>
        </p:txBody>
      </p:sp>
      <p:pic>
        <p:nvPicPr>
          <p:cNvPr id="22" name="Image 2" descr="arrow-right">    </p:cNvPr>
          <p:cNvPicPr>
            <a:picLocks noChangeAspect="1"/>
          </p:cNvPicPr>
          <p:nvPr/>
        </p:nvPicPr>
        <p:blipFill>
          <a:blip r:embed="rId3"/>
          <a:srcRect l="0" r="0" t="0" b="0"/>
          <a:stretch/>
        </p:blipFill>
        <p:spPr>
          <a:xfrm>
            <a:off x="8718550" y="3462021"/>
            <a:ext cx="279400" cy="152400"/>
          </a:xfrm>
          <a:prstGeom prst="rect">
            <a:avLst/>
          </a:prstGeom>
        </p:spPr>
      </p:pic>
      <p:sp>
        <p:nvSpPr>
          <p:cNvPr id="23" name="Shape 18"/>
          <p:cNvSpPr/>
          <p:nvPr/>
        </p:nvSpPr>
        <p:spPr>
          <a:xfrm>
            <a:off x="9099550" y="2562861"/>
            <a:ext cx="2279650" cy="1950720"/>
          </a:xfrm>
          <a:prstGeom prst="rect">
            <a:avLst/>
          </a:prstGeom>
          <a:solidFill>
            <a:srgbClr val="F1F0EA"/>
          </a:solidFill>
          <a:ln/>
        </p:spPr>
      </p:sp>
      <p:sp>
        <p:nvSpPr>
          <p:cNvPr id="24" name="Shape 19"/>
          <p:cNvSpPr/>
          <p:nvPr/>
        </p:nvSpPr>
        <p:spPr>
          <a:xfrm>
            <a:off x="9099550" y="2581911"/>
            <a:ext cx="2279650" cy="0"/>
          </a:xfrm>
          <a:prstGeom prst="line">
            <a:avLst/>
          </a:prstGeom>
          <a:noFill/>
          <a:ln w="38100">
            <a:solidFill>
              <a:srgbClr val="1B2A41"/>
            </a:solidFill>
            <a:prstDash val="solid"/>
          </a:ln>
        </p:spPr>
      </p:sp>
      <p:sp>
        <p:nvSpPr>
          <p:cNvPr id="25" name="Text 20"/>
          <p:cNvSpPr/>
          <p:nvPr/>
        </p:nvSpPr>
        <p:spPr>
          <a:xfrm>
            <a:off x="9302750" y="2801621"/>
            <a:ext cx="19294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7480"/>
                </a:solidFill>
                <a:latin typeface="Arial" pitchFamily="34" charset="0"/>
                <a:ea typeface="Arial" pitchFamily="34" charset="-122"/>
                <a:cs typeface="Arial" pitchFamily="34" charset="-120"/>
              </a:rPr>
              <a:t>Tier 4</a:t>
            </a:r>
            <a:endParaRPr lang="en-US" sz="1200" dirty="0"/>
          </a:p>
        </p:txBody>
      </p:sp>
      <p:sp>
        <p:nvSpPr>
          <p:cNvPr id="26" name="Text 21"/>
          <p:cNvSpPr/>
          <p:nvPr/>
        </p:nvSpPr>
        <p:spPr>
          <a:xfrm>
            <a:off x="9302750" y="3091182"/>
            <a:ext cx="192944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A41"/>
                </a:solidFill>
                <a:latin typeface="Arial" pitchFamily="34" charset="0"/>
                <a:ea typeface="Arial" pitchFamily="34" charset="-122"/>
                <a:cs typeface="Arial" pitchFamily="34" charset="-120"/>
              </a:rPr>
              <a:t>Hold height, land</a:t>
            </a:r>
            <a:endParaRPr lang="en-US" sz="1700" dirty="0"/>
          </a:p>
        </p:txBody>
      </p:sp>
      <p:sp>
        <p:nvSpPr>
          <p:cNvPr id="27" name="Text 22"/>
          <p:cNvSpPr/>
          <p:nvPr/>
        </p:nvSpPr>
        <p:spPr>
          <a:xfrm>
            <a:off x="9302750" y="3426461"/>
            <a:ext cx="1929448"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Arial" pitchFamily="34" charset="0"/>
                <a:ea typeface="Arial" pitchFamily="34" charset="-122"/>
                <a:cs typeface="Arial" pitchFamily="34" charset="-120"/>
              </a:rPr>
              <a:t>No position source. Pilot takes over, or the drone lands.</a:t>
            </a:r>
            <a:endParaRPr lang="en-US" sz="1200" dirty="0"/>
          </a:p>
        </p:txBody>
      </p:sp>
      <p:sp>
        <p:nvSpPr>
          <p:cNvPr id="28" name="Text 23"/>
          <p:cNvSpPr/>
          <p:nvPr/>
        </p:nvSpPr>
        <p:spPr>
          <a:xfrm>
            <a:off x="812800" y="4767582"/>
            <a:ext cx="10883392"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B2A41"/>
                </a:solidFill>
                <a:latin typeface="Arial" pitchFamily="34" charset="0"/>
                <a:ea typeface="Arial" pitchFamily="34" charset="-122"/>
                <a:cs typeface="Arial" pitchFamily="34" charset="-120"/>
              </a:rPr>
              <a:t>What the project adds:</a:t>
            </a:r>
            <a:r>
              <a:rPr lang="en-US" sz="1300" dirty="0">
                <a:solidFill>
                  <a:srgbClr val="3D4A5C"/>
                </a:solidFill>
                <a:latin typeface="Arial" pitchFamily="34" charset="0"/>
                <a:ea typeface="Arial" pitchFamily="34" charset="-122"/>
                <a:cs typeface="Arial" pitchFamily="34" charset="-120"/>
              </a:rPr>
              <a:t> a hand-over manager that scores how far vision can be trusted, and switches the flight controller's position source only when that score is high.</a:t>
            </a:r>
            <a:endParaRPr lang="en-US" sz="1300" dirty="0"/>
          </a:p>
        </p:txBody>
      </p:sp>
      <p:sp>
        <p:nvSpPr>
          <p:cNvPr id="29" name="Text 24"/>
          <p:cNvSpPr/>
          <p:nvPr/>
        </p:nvSpPr>
        <p:spPr>
          <a:xfrm>
            <a:off x="812800" y="6238239"/>
            <a:ext cx="26431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GPS-Denied Autonomous Drone</a:t>
            </a:r>
            <a:endParaRPr lang="en-US" sz="1200" dirty="0"/>
          </a:p>
        </p:txBody>
      </p:sp>
      <p:sp>
        <p:nvSpPr>
          <p:cNvPr id="30" name="Text 25"/>
          <p:cNvSpPr/>
          <p:nvPr/>
        </p:nvSpPr>
        <p:spPr>
          <a:xfrm>
            <a:off x="11243628" y="6238239"/>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480"/>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2A"/>
                </a:solidFill>
                <a:latin typeface="Arial" pitchFamily="34" charset="0"/>
                <a:ea typeface="Arial" pitchFamily="34" charset="-122"/>
                <a:cs typeface="Arial" pitchFamily="34" charset="-120"/>
              </a:rPr>
              <a:t>07</a:t>
            </a:r>
            <a:endParaRPr lang="en-US" sz="1200" dirty="0"/>
          </a:p>
        </p:txBody>
      </p:sp>
      <p:sp>
        <p:nvSpPr>
          <p:cNvPr id="3" name="Text 1"/>
          <p:cNvSpPr/>
          <p:nvPr>
            <p:ph type="title"/>
          </p:nvPr>
        </p:nvSpPr>
        <p:spPr>
          <a:xfrm>
            <a:off x="812800" y="1102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A41"/>
                </a:solidFill>
                <a:latin typeface="Georgia" pitchFamily="18" charset="0"/>
                <a:ea typeface="Georgia" pitchFamily="18" charset="-122"/>
                <a:cs typeface="Georgia" pitchFamily="18" charset="-120"/>
              </a:rPr>
              <a:t>Module Split-up</a:t>
            </a:r>
            <a:endParaRPr lang="en-US" sz="3000" dirty="0"/>
          </a:p>
        </p:txBody>
      </p:sp>
      <p:sp>
        <p:nvSpPr>
          <p:cNvPr id="4" name="Shape 2"/>
          <p:cNvSpPr/>
          <p:nvPr/>
        </p:nvSpPr>
        <p:spPr>
          <a:xfrm>
            <a:off x="812800" y="1775461"/>
            <a:ext cx="2546350" cy="1272540"/>
          </a:xfrm>
          <a:prstGeom prst="roundRect">
            <a:avLst>
              <a:gd name="adj" fmla="val 2994"/>
            </a:avLst>
          </a:prstGeom>
          <a:solidFill>
            <a:srgbClr val="F1F0EA"/>
          </a:solidFill>
          <a:ln/>
        </p:spPr>
      </p:sp>
      <p:sp>
        <p:nvSpPr>
          <p:cNvPr id="5" name="Text 3"/>
          <p:cNvSpPr/>
          <p:nvPr/>
        </p:nvSpPr>
        <p:spPr>
          <a:xfrm>
            <a:off x="990600" y="1953261"/>
            <a:ext cx="22564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1. Sensing</a:t>
            </a:r>
            <a:endParaRPr lang="en-US" sz="1400" dirty="0"/>
          </a:p>
        </p:txBody>
      </p:sp>
      <p:sp>
        <p:nvSpPr>
          <p:cNvPr id="6" name="Text 4"/>
          <p:cNvSpPr/>
          <p:nvPr/>
        </p:nvSpPr>
        <p:spPr>
          <a:xfrm>
            <a:off x="990600" y="2230121"/>
            <a:ext cx="225647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Synchronised stereo capture and inertial data with accurate timestamps</a:t>
            </a:r>
            <a:endParaRPr lang="en-US" sz="1200" dirty="0"/>
          </a:p>
        </p:txBody>
      </p:sp>
      <p:sp>
        <p:nvSpPr>
          <p:cNvPr id="7" name="Shape 5"/>
          <p:cNvSpPr/>
          <p:nvPr/>
        </p:nvSpPr>
        <p:spPr>
          <a:xfrm>
            <a:off x="3486150" y="1775461"/>
            <a:ext cx="2546350" cy="1272540"/>
          </a:xfrm>
          <a:prstGeom prst="roundRect">
            <a:avLst>
              <a:gd name="adj" fmla="val 2994"/>
            </a:avLst>
          </a:prstGeom>
          <a:solidFill>
            <a:srgbClr val="F1F0EA"/>
          </a:solidFill>
          <a:ln/>
        </p:spPr>
      </p:sp>
      <p:sp>
        <p:nvSpPr>
          <p:cNvPr id="8" name="Text 6"/>
          <p:cNvSpPr/>
          <p:nvPr/>
        </p:nvSpPr>
        <p:spPr>
          <a:xfrm>
            <a:off x="3663950" y="1953261"/>
            <a:ext cx="22564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2. Stereo depth</a:t>
            </a:r>
            <a:endParaRPr lang="en-US" sz="1400" dirty="0"/>
          </a:p>
        </p:txBody>
      </p:sp>
      <p:sp>
        <p:nvSpPr>
          <p:cNvPr id="9" name="Text 7"/>
          <p:cNvSpPr/>
          <p:nvPr/>
        </p:nvSpPr>
        <p:spPr>
          <a:xfrm>
            <a:off x="3663950" y="2230121"/>
            <a:ext cx="225647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Rectification, disparity, depth image, obstacle distances by sector</a:t>
            </a:r>
            <a:endParaRPr lang="en-US" sz="1200" dirty="0"/>
          </a:p>
        </p:txBody>
      </p:sp>
      <p:sp>
        <p:nvSpPr>
          <p:cNvPr id="10" name="Shape 8"/>
          <p:cNvSpPr/>
          <p:nvPr/>
        </p:nvSpPr>
        <p:spPr>
          <a:xfrm>
            <a:off x="6159500" y="1775461"/>
            <a:ext cx="2546350" cy="1272540"/>
          </a:xfrm>
          <a:prstGeom prst="roundRect">
            <a:avLst>
              <a:gd name="adj" fmla="val 2994"/>
            </a:avLst>
          </a:prstGeom>
          <a:solidFill>
            <a:srgbClr val="F1F0EA"/>
          </a:solidFill>
          <a:ln/>
        </p:spPr>
      </p:sp>
      <p:sp>
        <p:nvSpPr>
          <p:cNvPr id="11" name="Text 9"/>
          <p:cNvSpPr/>
          <p:nvPr/>
        </p:nvSpPr>
        <p:spPr>
          <a:xfrm>
            <a:off x="6337300" y="1953261"/>
            <a:ext cx="22564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3. Odometry</a:t>
            </a:r>
            <a:endParaRPr lang="en-US" sz="1400" dirty="0"/>
          </a:p>
        </p:txBody>
      </p:sp>
      <p:sp>
        <p:nvSpPr>
          <p:cNvPr id="12" name="Text 10"/>
          <p:cNvSpPr/>
          <p:nvPr/>
        </p:nvSpPr>
        <p:spPr>
          <a:xfrm>
            <a:off x="6337300" y="2230121"/>
            <a:ext cx="22564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Visual-inertial pose and velocity, with a health monitor</a:t>
            </a:r>
            <a:endParaRPr lang="en-US" sz="1200" dirty="0"/>
          </a:p>
        </p:txBody>
      </p:sp>
      <p:sp>
        <p:nvSpPr>
          <p:cNvPr id="13" name="Shape 11"/>
          <p:cNvSpPr/>
          <p:nvPr/>
        </p:nvSpPr>
        <p:spPr>
          <a:xfrm>
            <a:off x="8832850" y="1775461"/>
            <a:ext cx="2546350" cy="1272540"/>
          </a:xfrm>
          <a:prstGeom prst="roundRect">
            <a:avLst>
              <a:gd name="adj" fmla="val 2994"/>
            </a:avLst>
          </a:prstGeom>
          <a:solidFill>
            <a:srgbClr val="F1F0EA"/>
          </a:solidFill>
          <a:ln/>
        </p:spPr>
      </p:sp>
      <p:sp>
        <p:nvSpPr>
          <p:cNvPr id="14" name="Text 12"/>
          <p:cNvSpPr/>
          <p:nvPr/>
        </p:nvSpPr>
        <p:spPr>
          <a:xfrm>
            <a:off x="9010650" y="1953261"/>
            <a:ext cx="22564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4. Localisation</a:t>
            </a:r>
            <a:endParaRPr lang="en-US" sz="1400" dirty="0"/>
          </a:p>
        </p:txBody>
      </p:sp>
      <p:sp>
        <p:nvSpPr>
          <p:cNvPr id="15" name="Text 13"/>
          <p:cNvSpPr/>
          <p:nvPr/>
        </p:nvSpPr>
        <p:spPr>
          <a:xfrm>
            <a:off x="9010650" y="2230121"/>
            <a:ext cx="22564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Aligns vision to the autopilot frame and scores confidence</a:t>
            </a:r>
            <a:endParaRPr lang="en-US" sz="1200" dirty="0"/>
          </a:p>
        </p:txBody>
      </p:sp>
      <p:sp>
        <p:nvSpPr>
          <p:cNvPr id="16" name="Shape 14"/>
          <p:cNvSpPr/>
          <p:nvPr/>
        </p:nvSpPr>
        <p:spPr>
          <a:xfrm>
            <a:off x="812800" y="3175000"/>
            <a:ext cx="2546350" cy="1272540"/>
          </a:xfrm>
          <a:prstGeom prst="roundRect">
            <a:avLst>
              <a:gd name="adj" fmla="val 2994"/>
            </a:avLst>
          </a:prstGeom>
          <a:solidFill>
            <a:srgbClr val="F1F0EA"/>
          </a:solidFill>
          <a:ln/>
        </p:spPr>
      </p:sp>
      <p:sp>
        <p:nvSpPr>
          <p:cNvPr id="17" name="Text 15"/>
          <p:cNvSpPr/>
          <p:nvPr/>
        </p:nvSpPr>
        <p:spPr>
          <a:xfrm>
            <a:off x="990600" y="3352800"/>
            <a:ext cx="22564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5. Mode manager</a:t>
            </a:r>
            <a:endParaRPr lang="en-US" sz="1400" dirty="0"/>
          </a:p>
        </p:txBody>
      </p:sp>
      <p:sp>
        <p:nvSpPr>
          <p:cNvPr id="18" name="Text 16"/>
          <p:cNvSpPr/>
          <p:nvPr/>
        </p:nvSpPr>
        <p:spPr>
          <a:xfrm>
            <a:off x="990600" y="3629661"/>
            <a:ext cx="22564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Classifies GPS health and selects the navigation tier</a:t>
            </a:r>
            <a:endParaRPr lang="en-US" sz="1200" dirty="0"/>
          </a:p>
        </p:txBody>
      </p:sp>
      <p:sp>
        <p:nvSpPr>
          <p:cNvPr id="19" name="Shape 17"/>
          <p:cNvSpPr/>
          <p:nvPr/>
        </p:nvSpPr>
        <p:spPr>
          <a:xfrm>
            <a:off x="3486150" y="3175000"/>
            <a:ext cx="2546350" cy="1272540"/>
          </a:xfrm>
          <a:prstGeom prst="roundRect">
            <a:avLst>
              <a:gd name="adj" fmla="val 2994"/>
            </a:avLst>
          </a:prstGeom>
          <a:solidFill>
            <a:srgbClr val="F1F0EA"/>
          </a:solidFill>
          <a:ln/>
        </p:spPr>
      </p:sp>
      <p:sp>
        <p:nvSpPr>
          <p:cNvPr id="20" name="Text 18"/>
          <p:cNvSpPr/>
          <p:nvPr/>
        </p:nvSpPr>
        <p:spPr>
          <a:xfrm>
            <a:off x="3663950" y="3352800"/>
            <a:ext cx="22564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6. AI perception</a:t>
            </a:r>
            <a:endParaRPr lang="en-US" sz="1400" dirty="0"/>
          </a:p>
        </p:txBody>
      </p:sp>
      <p:sp>
        <p:nvSpPr>
          <p:cNvPr id="21" name="Text 19"/>
          <p:cNvSpPr/>
          <p:nvPr/>
        </p:nvSpPr>
        <p:spPr>
          <a:xfrm>
            <a:off x="3663950" y="3629661"/>
            <a:ext cx="22564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Object detection, then range and position from depth</a:t>
            </a:r>
            <a:endParaRPr lang="en-US" sz="1200" dirty="0"/>
          </a:p>
        </p:txBody>
      </p:sp>
      <p:sp>
        <p:nvSpPr>
          <p:cNvPr id="22" name="Shape 20"/>
          <p:cNvSpPr/>
          <p:nvPr/>
        </p:nvSpPr>
        <p:spPr>
          <a:xfrm>
            <a:off x="6159500" y="3175000"/>
            <a:ext cx="2546350" cy="1272540"/>
          </a:xfrm>
          <a:prstGeom prst="roundRect">
            <a:avLst>
              <a:gd name="adj" fmla="val 2994"/>
            </a:avLst>
          </a:prstGeom>
          <a:solidFill>
            <a:srgbClr val="F1F0EA"/>
          </a:solidFill>
          <a:ln/>
        </p:spPr>
      </p:sp>
      <p:sp>
        <p:nvSpPr>
          <p:cNvPr id="23" name="Text 21"/>
          <p:cNvSpPr/>
          <p:nvPr/>
        </p:nvSpPr>
        <p:spPr>
          <a:xfrm>
            <a:off x="6337300" y="3352800"/>
            <a:ext cx="22564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7. Navigation</a:t>
            </a:r>
            <a:endParaRPr lang="en-US" sz="1400" dirty="0"/>
          </a:p>
        </p:txBody>
      </p:sp>
      <p:sp>
        <p:nvSpPr>
          <p:cNvPr id="24" name="Text 22"/>
          <p:cNvSpPr/>
          <p:nvPr/>
        </p:nvSpPr>
        <p:spPr>
          <a:xfrm>
            <a:off x="6337300" y="3629661"/>
            <a:ext cx="225647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Waypoint following, speed limits, stop for obstacles, missions</a:t>
            </a:r>
            <a:endParaRPr lang="en-US" sz="1200" dirty="0"/>
          </a:p>
        </p:txBody>
      </p:sp>
      <p:sp>
        <p:nvSpPr>
          <p:cNvPr id="25" name="Shape 23"/>
          <p:cNvSpPr/>
          <p:nvPr/>
        </p:nvSpPr>
        <p:spPr>
          <a:xfrm>
            <a:off x="8832850" y="3175000"/>
            <a:ext cx="2546350" cy="1272540"/>
          </a:xfrm>
          <a:prstGeom prst="roundRect">
            <a:avLst>
              <a:gd name="adj" fmla="val 2994"/>
            </a:avLst>
          </a:prstGeom>
          <a:solidFill>
            <a:srgbClr val="F1F0EA"/>
          </a:solidFill>
          <a:ln/>
        </p:spPr>
      </p:sp>
      <p:sp>
        <p:nvSpPr>
          <p:cNvPr id="26" name="Text 24"/>
          <p:cNvSpPr/>
          <p:nvPr/>
        </p:nvSpPr>
        <p:spPr>
          <a:xfrm>
            <a:off x="9010650" y="3352800"/>
            <a:ext cx="22564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8. Safety</a:t>
            </a:r>
            <a:endParaRPr lang="en-US" sz="1400" dirty="0"/>
          </a:p>
        </p:txBody>
      </p:sp>
      <p:sp>
        <p:nvSpPr>
          <p:cNvPr id="27" name="Text 25"/>
          <p:cNvSpPr/>
          <p:nvPr/>
        </p:nvSpPr>
        <p:spPr>
          <a:xfrm>
            <a:off x="9010650" y="3629661"/>
            <a:ext cx="22564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Watchdogs, pre-flight check, telemetry to the ground station</a:t>
            </a:r>
            <a:endParaRPr lang="en-US" sz="1200" dirty="0"/>
          </a:p>
        </p:txBody>
      </p:sp>
      <p:sp>
        <p:nvSpPr>
          <p:cNvPr id="28" name="Text 26"/>
          <p:cNvSpPr/>
          <p:nvPr/>
        </p:nvSpPr>
        <p:spPr>
          <a:xfrm>
            <a:off x="812800" y="4701542"/>
            <a:ext cx="10883392"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Arial" pitchFamily="34" charset="0"/>
                <a:ea typeface="Arial" pitchFamily="34" charset="-122"/>
                <a:cs typeface="Arial" pitchFamily="34" charset="-120"/>
              </a:rPr>
              <a:t>Implemented as 19 ROS 2 packages. Modules talk only through defined topics, so the camera or the odometry can be replaced without touching the rest.</a:t>
            </a:r>
            <a:endParaRPr lang="en-US" sz="1300" dirty="0"/>
          </a:p>
        </p:txBody>
      </p:sp>
      <p:sp>
        <p:nvSpPr>
          <p:cNvPr id="29" name="Text 27"/>
          <p:cNvSpPr/>
          <p:nvPr/>
        </p:nvSpPr>
        <p:spPr>
          <a:xfrm>
            <a:off x="812800" y="6238242"/>
            <a:ext cx="26431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GPS-Denied Autonomous Drone</a:t>
            </a:r>
            <a:endParaRPr lang="en-US" sz="1200" dirty="0"/>
          </a:p>
        </p:txBody>
      </p:sp>
      <p:sp>
        <p:nvSpPr>
          <p:cNvPr id="30" name="Text 28"/>
          <p:cNvSpPr/>
          <p:nvPr/>
        </p:nvSpPr>
        <p:spPr>
          <a:xfrm>
            <a:off x="11243628" y="6238242"/>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480"/>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2A"/>
                </a:solidFill>
                <a:latin typeface="Arial" pitchFamily="34" charset="0"/>
                <a:ea typeface="Arial" pitchFamily="34" charset="-122"/>
                <a:cs typeface="Arial" pitchFamily="34" charset="-120"/>
              </a:rPr>
              <a:t>08</a:t>
            </a:r>
            <a:endParaRPr lang="en-US" sz="1200" dirty="0"/>
          </a:p>
        </p:txBody>
      </p:sp>
      <p:sp>
        <p:nvSpPr>
          <p:cNvPr id="3" name="Text 1"/>
          <p:cNvSpPr/>
          <p:nvPr>
            <p:ph type="title"/>
          </p:nvPr>
        </p:nvSpPr>
        <p:spPr>
          <a:xfrm>
            <a:off x="812800" y="11023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A41"/>
                </a:solidFill>
                <a:latin typeface="Georgia" pitchFamily="18" charset="0"/>
                <a:ea typeface="Georgia" pitchFamily="18" charset="-122"/>
                <a:cs typeface="Georgia" pitchFamily="18" charset="-120"/>
              </a:rPr>
              <a:t>Algorithms &amp; Techniques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85624"/>
          <a:ext cx="10556240" cy="2854960"/>
        </p:xfrm>
        <a:graphic>
          <a:graphicData uri="http://schemas.openxmlformats.org/drawingml/2006/table">
            <a:tbl>
              <a:tblPr/>
              <a:tblGrid>
                <a:gridCol w="4222496"/>
                <a:gridCol w="6333744"/>
              </a:tblGrid>
              <a:tr h="356870">
                <a:tc>
                  <a:txBody>
                    <a:bodyPr/>
                    <a:lstStyle/>
                    <a:p>
                      <a:pPr indent="0" marL="0">
                        <a:lnSpc>
                          <a:spcPts val="1820"/>
                        </a:lnSpc>
                        <a:buNone/>
                      </a:pPr>
                      <a:r>
                        <a:rPr lang="en-US" sz="1300" b="1" dirty="0">
                          <a:solidFill>
                            <a:srgbClr val="1B2A41"/>
                          </a:solidFill>
                          <a:latin typeface="Arial" pitchFamily="34" charset="0"/>
                          <a:ea typeface="Arial" pitchFamily="34" charset="-122"/>
                          <a:cs typeface="Arial" pitchFamily="34" charset="-120"/>
                        </a:rPr>
                        <a:t>Technique</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820"/>
                        </a:lnSpc>
                        <a:buNone/>
                      </a:pPr>
                      <a:r>
                        <a:rPr lang="en-US" sz="1300" b="1" dirty="0">
                          <a:solidFill>
                            <a:srgbClr val="1B2A41"/>
                          </a:solidFill>
                          <a:latin typeface="Arial" pitchFamily="34" charset="0"/>
                          <a:ea typeface="Arial" pitchFamily="34" charset="-122"/>
                          <a:cs typeface="Arial" pitchFamily="34" charset="-120"/>
                        </a:rPr>
                        <a:t>Used for</a:t>
                      </a:r>
                      <a:endParaRPr lang="en-US" sz="1300" dirty="0">
                        <a:latin typeface="Arial" charset="0"/>
                        <a:ea typeface="Arial" charset="0"/>
                        <a:cs typeface="Arial" charset="0"/>
                      </a:endParaRPr>
                    </a:p>
                  </a:txBody>
                  <a:tcPr marL="57785" marR="57785" marT="57785" marB="57785"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Multi-state constraint Kalman filter</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Visual-inertial odometry from stereo images and IMU</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Extended Kalman filter (ArduPilot EKF3)</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Vehicle state; switching between GPS, vision and flow</a:t>
                      </a:r>
                      <a:endParaRPr lang="en-US" sz="1300" dirty="0">
                        <a:latin typeface="Arial" charset="0"/>
                        <a:ea typeface="Arial" charset="0"/>
                        <a:cs typeface="Arial" charset="0"/>
                      </a:endParaRPr>
                    </a:p>
                  </a:txBody>
                  <a:tcPr marL="57785" marR="57785" marT="57785" marB="57785"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Stereo block matching</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Disparity and metric depth, Z = f·B / d</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4-DoF frame alignment</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Relating the drifting vision frame to the autopilot frame</a:t>
                      </a:r>
                      <a:endParaRPr lang="en-US" sz="1300" dirty="0">
                        <a:latin typeface="Arial" charset="0"/>
                        <a:ea typeface="Arial" charset="0"/>
                        <a:cs typeface="Arial" charset="0"/>
                      </a:endParaRPr>
                    </a:p>
                  </a:txBody>
                  <a:tcPr marL="57785" marR="57785" marT="57785" marB="57785"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State machine with hysteresis</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GPS health classification and tier selection</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YOLO26n convolutional detector</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Object detection at 320 px on the Pi's CPU</a:t>
                      </a:r>
                      <a:endParaRPr lang="en-US" sz="1300" dirty="0">
                        <a:latin typeface="Arial" charset="0"/>
                        <a:ea typeface="Arial" charset="0"/>
                        <a:cs typeface="Arial" charset="0"/>
                      </a:endParaRPr>
                    </a:p>
                  </a:txBody>
                  <a:tcPr marL="57785" marR="57785" marT="57785" marB="57785"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Late fusion of boxes and depth</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Object range and position on the map</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5" name="Text 2"/>
          <p:cNvSpPr/>
          <p:nvPr/>
        </p:nvSpPr>
        <p:spPr>
          <a:xfrm>
            <a:off x="812800" y="4894579"/>
            <a:ext cx="10883392" cy="26479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Arial" pitchFamily="34" charset="0"/>
                <a:ea typeface="Arial" pitchFamily="34" charset="-122"/>
                <a:cs typeface="Arial" pitchFamily="34" charset="-120"/>
              </a:rPr>
              <a:t>Geometry does the localising and the obstacle sensing. The neural network only answers “what is it?”.</a:t>
            </a:r>
            <a:endParaRPr lang="en-US" sz="1300" dirty="0"/>
          </a:p>
        </p:txBody>
      </p:sp>
      <p:sp>
        <p:nvSpPr>
          <p:cNvPr id="6" name="Text 3"/>
          <p:cNvSpPr/>
          <p:nvPr/>
        </p:nvSpPr>
        <p:spPr>
          <a:xfrm>
            <a:off x="812800" y="6238242"/>
            <a:ext cx="26431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GPS-Denied Autonomous Drone</a:t>
            </a:r>
            <a:endParaRPr lang="en-US" sz="1200" dirty="0"/>
          </a:p>
        </p:txBody>
      </p:sp>
      <p:sp>
        <p:nvSpPr>
          <p:cNvPr id="7" name="Text 4"/>
          <p:cNvSpPr/>
          <p:nvPr/>
        </p:nvSpPr>
        <p:spPr>
          <a:xfrm>
            <a:off x="11243628" y="6238242"/>
            <a:ext cx="1355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480"/>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2A"/>
                </a:solidFill>
                <a:latin typeface="Arial" pitchFamily="34" charset="0"/>
                <a:ea typeface="Arial" pitchFamily="34" charset="-122"/>
                <a:cs typeface="Arial" pitchFamily="34" charset="-120"/>
              </a:rPr>
              <a:t>09</a:t>
            </a:r>
            <a:endParaRPr lang="en-US" sz="1200" dirty="0"/>
          </a:p>
        </p:txBody>
      </p:sp>
      <p:sp>
        <p:nvSpPr>
          <p:cNvPr id="3" name="Text 1"/>
          <p:cNvSpPr/>
          <p:nvPr>
            <p:ph type="title"/>
          </p:nvPr>
        </p:nvSpPr>
        <p:spPr>
          <a:xfrm>
            <a:off x="812800" y="11023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A41"/>
                </a:solidFill>
                <a:latin typeface="Georgia" pitchFamily="18" charset="0"/>
                <a:ea typeface="Georgia" pitchFamily="18" charset="-122"/>
                <a:cs typeface="Georgia" pitchFamily="18" charset="-120"/>
              </a:rPr>
              <a:t>Software Tools &amp; Technologies</a:t>
            </a:r>
            <a:endParaRPr lang="en-US" sz="3000" dirty="0"/>
          </a:p>
        </p:txBody>
      </p:sp>
      <p:sp>
        <p:nvSpPr>
          <p:cNvPr id="4" name="Shape 2"/>
          <p:cNvSpPr/>
          <p:nvPr/>
        </p:nvSpPr>
        <p:spPr>
          <a:xfrm>
            <a:off x="812800" y="1781814"/>
            <a:ext cx="2413000" cy="0"/>
          </a:xfrm>
          <a:prstGeom prst="line">
            <a:avLst/>
          </a:prstGeom>
          <a:noFill/>
          <a:ln w="12700">
            <a:solidFill>
              <a:srgbClr val="1B2A41"/>
            </a:solidFill>
            <a:prstDash val="solid"/>
          </a:ln>
        </p:spPr>
      </p:sp>
      <p:sp>
        <p:nvSpPr>
          <p:cNvPr id="5" name="Text 3"/>
          <p:cNvSpPr/>
          <p:nvPr/>
        </p:nvSpPr>
        <p:spPr>
          <a:xfrm>
            <a:off x="812800" y="1912621"/>
            <a:ext cx="2485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Platform</a:t>
            </a:r>
            <a:endParaRPr lang="en-US" sz="1400" dirty="0"/>
          </a:p>
        </p:txBody>
      </p:sp>
      <p:sp>
        <p:nvSpPr>
          <p:cNvPr id="6" name="Text 4"/>
          <p:cNvSpPr/>
          <p:nvPr/>
        </p:nvSpPr>
        <p:spPr>
          <a:xfrm>
            <a:off x="910844" y="2227579"/>
            <a:ext cx="2379726" cy="1082040"/>
          </a:xfrm>
          <a:prstGeom prst="rect">
            <a:avLst/>
          </a:prstGeom>
          <a:noFill/>
          <a:ln/>
        </p:spPr>
        <p:txBody>
          <a:bodyPr wrap="square" lIns="0" tIns="0" rIns="0" bIns="0" rtlCol="0" anchor="t">
            <a:normAutofit/>
          </a:bodyPr>
          <a:lstStyle/>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Ubuntu 24.04</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ROS 2 Jazzy</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C++17</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Python 3.12</a:t>
            </a:r>
            <a:endParaRPr lang="en-US" sz="1300" dirty="0"/>
          </a:p>
        </p:txBody>
      </p:sp>
      <p:sp>
        <p:nvSpPr>
          <p:cNvPr id="7" name="Shape 5"/>
          <p:cNvSpPr/>
          <p:nvPr/>
        </p:nvSpPr>
        <p:spPr>
          <a:xfrm>
            <a:off x="3530600" y="1781814"/>
            <a:ext cx="2413000" cy="0"/>
          </a:xfrm>
          <a:prstGeom prst="line">
            <a:avLst/>
          </a:prstGeom>
          <a:noFill/>
          <a:ln w="12700">
            <a:solidFill>
              <a:srgbClr val="1B2A41"/>
            </a:solidFill>
            <a:prstDash val="solid"/>
          </a:ln>
        </p:spPr>
      </p:sp>
      <p:sp>
        <p:nvSpPr>
          <p:cNvPr id="8" name="Text 6"/>
          <p:cNvSpPr/>
          <p:nvPr/>
        </p:nvSpPr>
        <p:spPr>
          <a:xfrm>
            <a:off x="3530600" y="1912621"/>
            <a:ext cx="2485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Flight stack</a:t>
            </a:r>
            <a:endParaRPr lang="en-US" sz="1400" dirty="0"/>
          </a:p>
        </p:txBody>
      </p:sp>
      <p:sp>
        <p:nvSpPr>
          <p:cNvPr id="9" name="Text 7"/>
          <p:cNvSpPr/>
          <p:nvPr/>
        </p:nvSpPr>
        <p:spPr>
          <a:xfrm>
            <a:off x="3628644" y="2227579"/>
            <a:ext cx="2379726" cy="1082040"/>
          </a:xfrm>
          <a:prstGeom prst="rect">
            <a:avLst/>
          </a:prstGeom>
          <a:noFill/>
          <a:ln/>
        </p:spPr>
        <p:txBody>
          <a:bodyPr wrap="square" lIns="0" tIns="0" rIns="0" bIns="0" rtlCol="0" anchor="t">
            <a:normAutofit/>
          </a:bodyPr>
          <a:lstStyle/>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ArduPilot Copter 4.7</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MAVLink 2</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MAVROS</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QGroundControl</a:t>
            </a:r>
            <a:endParaRPr lang="en-US" sz="1300" dirty="0"/>
          </a:p>
        </p:txBody>
      </p:sp>
      <p:sp>
        <p:nvSpPr>
          <p:cNvPr id="10" name="Shape 8"/>
          <p:cNvSpPr/>
          <p:nvPr/>
        </p:nvSpPr>
        <p:spPr>
          <a:xfrm>
            <a:off x="6248400" y="1781814"/>
            <a:ext cx="2413000" cy="0"/>
          </a:xfrm>
          <a:prstGeom prst="line">
            <a:avLst/>
          </a:prstGeom>
          <a:noFill/>
          <a:ln w="12700">
            <a:solidFill>
              <a:srgbClr val="1B2A41"/>
            </a:solidFill>
            <a:prstDash val="solid"/>
          </a:ln>
        </p:spPr>
      </p:sp>
      <p:sp>
        <p:nvSpPr>
          <p:cNvPr id="11" name="Text 9"/>
          <p:cNvSpPr/>
          <p:nvPr/>
        </p:nvSpPr>
        <p:spPr>
          <a:xfrm>
            <a:off x="6248400" y="1912621"/>
            <a:ext cx="2485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Vision and AI</a:t>
            </a:r>
            <a:endParaRPr lang="en-US" sz="1400" dirty="0"/>
          </a:p>
        </p:txBody>
      </p:sp>
      <p:sp>
        <p:nvSpPr>
          <p:cNvPr id="12" name="Text 10"/>
          <p:cNvSpPr/>
          <p:nvPr/>
        </p:nvSpPr>
        <p:spPr>
          <a:xfrm>
            <a:off x="6346444" y="2227579"/>
            <a:ext cx="2379726" cy="1346200"/>
          </a:xfrm>
          <a:prstGeom prst="rect">
            <a:avLst/>
          </a:prstGeom>
          <a:noFill/>
          <a:ln/>
        </p:spPr>
        <p:txBody>
          <a:bodyPr wrap="square" lIns="0" tIns="0" rIns="0" bIns="0" rtlCol="0" anchor="t">
            <a:normAutofit/>
          </a:bodyPr>
          <a:lstStyle/>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OpenCV</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OpenVINS</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NCNN runtime</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YOLO26n</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Kalibr</a:t>
            </a:r>
            <a:endParaRPr lang="en-US" sz="1300" dirty="0"/>
          </a:p>
        </p:txBody>
      </p:sp>
      <p:sp>
        <p:nvSpPr>
          <p:cNvPr id="13" name="Shape 11"/>
          <p:cNvSpPr/>
          <p:nvPr/>
        </p:nvSpPr>
        <p:spPr>
          <a:xfrm>
            <a:off x="8966200" y="1781814"/>
            <a:ext cx="2413000" cy="0"/>
          </a:xfrm>
          <a:prstGeom prst="line">
            <a:avLst/>
          </a:prstGeom>
          <a:noFill/>
          <a:ln w="12700">
            <a:solidFill>
              <a:srgbClr val="1B2A41"/>
            </a:solidFill>
            <a:prstDash val="solid"/>
          </a:ln>
        </p:spPr>
      </p:sp>
      <p:sp>
        <p:nvSpPr>
          <p:cNvPr id="14" name="Text 12"/>
          <p:cNvSpPr/>
          <p:nvPr/>
        </p:nvSpPr>
        <p:spPr>
          <a:xfrm>
            <a:off x="8966200" y="1912621"/>
            <a:ext cx="2485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Simulation and test</a:t>
            </a:r>
            <a:endParaRPr lang="en-US" sz="1400" dirty="0"/>
          </a:p>
        </p:txBody>
      </p:sp>
      <p:sp>
        <p:nvSpPr>
          <p:cNvPr id="15" name="Text 13"/>
          <p:cNvSpPr/>
          <p:nvPr/>
        </p:nvSpPr>
        <p:spPr>
          <a:xfrm>
            <a:off x="9064244" y="2227579"/>
            <a:ext cx="2379726" cy="1346200"/>
          </a:xfrm>
          <a:prstGeom prst="rect">
            <a:avLst/>
          </a:prstGeom>
          <a:noFill/>
          <a:ln/>
        </p:spPr>
        <p:txBody>
          <a:bodyPr wrap="square" lIns="0" tIns="0" rIns="0" bIns="0" rtlCol="0" anchor="t">
            <a:normAutofit/>
          </a:bodyPr>
          <a:lstStyle/>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ArduPilot SITL</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Gazebo Harmonic</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RViz2</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rosbag2</a:t>
            </a:r>
            <a:endParaRPr lang="en-US" sz="1300" dirty="0"/>
          </a:p>
          <a:p>
            <a:pPr algn="l" marL="155956" indent="-155956">
              <a:lnSpc>
                <a:spcPts val="2080"/>
              </a:lnSpc>
              <a:buSzPct val="100000"/>
              <a:buChar char="•"/>
            </a:pPr>
            <a:r>
              <a:rPr lang="en-US" sz="1300" dirty="0">
                <a:solidFill>
                  <a:srgbClr val="3D4A5C"/>
                </a:solidFill>
                <a:latin typeface="Arial" pitchFamily="34" charset="0"/>
                <a:ea typeface="Arial" pitchFamily="34" charset="-122"/>
                <a:cs typeface="Arial" pitchFamily="34" charset="-120"/>
              </a:rPr>
              <a:t>pytest, GoogleTest</a:t>
            </a:r>
            <a:endParaRPr lang="en-US" sz="1300" dirty="0"/>
          </a:p>
        </p:txBody>
      </p:sp>
      <p:sp>
        <p:nvSpPr>
          <p:cNvPr id="16" name="Text 14"/>
          <p:cNvSpPr/>
          <p:nvPr/>
        </p:nvSpPr>
        <p:spPr>
          <a:xfrm>
            <a:off x="812800" y="3802379"/>
            <a:ext cx="10566400" cy="544195"/>
          </a:xfrm>
          <a:prstGeom prst="roundRect">
            <a:avLst>
              <a:gd name="adj" fmla="val 7001"/>
            </a:avLst>
          </a:prstGeom>
          <a:solidFill>
            <a:srgbClr val="F1F0EA"/>
          </a:solidFill>
          <a:ln/>
        </p:spPr>
        <p:txBody>
          <a:bodyPr wrap="square" lIns="192041" tIns="141241" rIns="0" bIns="115841" rtlCol="0" anchor="t">
            <a:normAutofit/>
          </a:bodyPr>
          <a:lstStyle/>
          <a:p>
            <a:pPr algn="l" indent="0" marL="0">
              <a:lnSpc>
                <a:spcPts val="1885"/>
              </a:lnSpc>
              <a:buNone/>
            </a:pPr>
            <a:r>
              <a:rPr lang="en-US" sz="1300" b="1" dirty="0">
                <a:solidFill>
                  <a:srgbClr val="1B2A41"/>
                </a:solidFill>
                <a:latin typeface="Arial" pitchFamily="34" charset="0"/>
                <a:ea typeface="Arial" pitchFamily="34" charset="-122"/>
                <a:cs typeface="Arial" pitchFamily="34" charset="-120"/>
              </a:rPr>
              <a:t>Hardware:</a:t>
            </a:r>
            <a:r>
              <a:rPr lang="en-US" sz="1300" dirty="0">
                <a:solidFill>
                  <a:srgbClr val="3D4A5C"/>
                </a:solidFill>
                <a:latin typeface="Arial" pitchFamily="34" charset="0"/>
                <a:ea typeface="Arial" pitchFamily="34" charset="-122"/>
                <a:cs typeface="Arial" pitchFamily="34" charset="-120"/>
              </a:rPr>
              <a:t> Raspberry Pi 5 (8 GB) · Waveshare IMX219-83 stereo camera · Holybro Pixhawk 6C · SIYI MK15 · MTF-01 optical flow sensor</a:t>
            </a:r>
            <a:endParaRPr lang="en-US" sz="1300" dirty="0"/>
          </a:p>
        </p:txBody>
      </p:sp>
      <p:sp>
        <p:nvSpPr>
          <p:cNvPr id="17" name="Text 15"/>
          <p:cNvSpPr/>
          <p:nvPr/>
        </p:nvSpPr>
        <p:spPr>
          <a:xfrm>
            <a:off x="812800" y="6238242"/>
            <a:ext cx="26431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GPS-Denied Autonomous Drone</a:t>
            </a:r>
            <a:endParaRPr lang="en-US" sz="1200" dirty="0"/>
          </a:p>
        </p:txBody>
      </p:sp>
      <p:sp>
        <p:nvSpPr>
          <p:cNvPr id="18" name="Text 16"/>
          <p:cNvSpPr/>
          <p:nvPr/>
        </p:nvSpPr>
        <p:spPr>
          <a:xfrm>
            <a:off x="11158855" y="6238242"/>
            <a:ext cx="22034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480"/>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2A"/>
                </a:solidFill>
                <a:latin typeface="Arial" pitchFamily="34" charset="0"/>
                <a:ea typeface="Arial" pitchFamily="34" charset="-122"/>
                <a:cs typeface="Arial" pitchFamily="34" charset="-120"/>
              </a:rPr>
              <a:t>10</a:t>
            </a:r>
            <a:endParaRPr lang="en-US" sz="1200" dirty="0"/>
          </a:p>
        </p:txBody>
      </p:sp>
      <p:sp>
        <p:nvSpPr>
          <p:cNvPr id="3" name="Text 1"/>
          <p:cNvSpPr/>
          <p:nvPr>
            <p:ph type="title"/>
          </p:nvPr>
        </p:nvSpPr>
        <p:spPr>
          <a:xfrm>
            <a:off x="812800" y="11023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A41"/>
                </a:solidFill>
                <a:latin typeface="Georgia" pitchFamily="18" charset="0"/>
                <a:ea typeface="Georgia" pitchFamily="18" charset="-122"/>
                <a:cs typeface="Georgia" pitchFamily="18" charset="-120"/>
              </a:rPr>
              <a:t>Project Plan 2.0</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60224"/>
          <a:ext cx="10556240" cy="2141220"/>
        </p:xfrm>
        <a:graphic>
          <a:graphicData uri="http://schemas.openxmlformats.org/drawingml/2006/table">
            <a:tbl>
              <a:tblPr/>
              <a:tblGrid>
                <a:gridCol w="2744622"/>
                <a:gridCol w="4855870"/>
                <a:gridCol w="2955747"/>
              </a:tblGrid>
              <a:tr h="356870">
                <a:tc>
                  <a:txBody>
                    <a:bodyPr/>
                    <a:lstStyle/>
                    <a:p>
                      <a:pPr indent="0" marL="0">
                        <a:lnSpc>
                          <a:spcPts val="1820"/>
                        </a:lnSpc>
                        <a:buNone/>
                      </a:pPr>
                      <a:r>
                        <a:rPr lang="en-US" sz="1300" b="1" dirty="0">
                          <a:solidFill>
                            <a:srgbClr val="1B2A41"/>
                          </a:solidFill>
                          <a:latin typeface="Arial" pitchFamily="34" charset="0"/>
                          <a:ea typeface="Arial" pitchFamily="34" charset="-122"/>
                          <a:cs typeface="Arial" pitchFamily="34" charset="-120"/>
                        </a:rPr>
                        <a:t>Stage</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820"/>
                        </a:lnSpc>
                        <a:buNone/>
                      </a:pPr>
                      <a:r>
                        <a:rPr lang="en-US" sz="1300" b="1" dirty="0">
                          <a:solidFill>
                            <a:srgbClr val="1B2A41"/>
                          </a:solidFill>
                          <a:latin typeface="Arial" pitchFamily="34" charset="0"/>
                          <a:ea typeface="Arial" pitchFamily="34" charset="-122"/>
                          <a:cs typeface="Arial" pitchFamily="34" charset="-120"/>
                        </a:rPr>
                        <a:t>Work</a:t>
                      </a:r>
                      <a:endParaRPr lang="en-US" sz="1300" dirty="0">
                        <a:latin typeface="Arial" charset="0"/>
                        <a:ea typeface="Arial" charset="0"/>
                        <a:cs typeface="Arial" charset="0"/>
                      </a:endParaRPr>
                    </a:p>
                  </a:txBody>
                  <a:tcPr marL="57785" marR="57785" marT="57785" marB="57785"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820"/>
                        </a:lnSpc>
                        <a:buNone/>
                      </a:pPr>
                      <a:r>
                        <a:rPr lang="en-US" sz="1300" b="1" dirty="0">
                          <a:solidFill>
                            <a:srgbClr val="1B2A41"/>
                          </a:solidFill>
                          <a:latin typeface="Arial" pitchFamily="34" charset="0"/>
                          <a:ea typeface="Arial" pitchFamily="34" charset="-122"/>
                          <a:cs typeface="Arial" pitchFamily="34" charset="-120"/>
                        </a:rPr>
                        <a:t>Exit gate</a:t>
                      </a:r>
                      <a:endParaRPr lang="en-US" sz="1300" dirty="0">
                        <a:latin typeface="Arial" charset="0"/>
                        <a:ea typeface="Arial" charset="0"/>
                        <a:cs typeface="Arial" charset="0"/>
                      </a:endParaRPr>
                    </a:p>
                  </a:txBody>
                  <a:tcPr marL="57785" marR="57785" marT="57785" marB="57785"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1. Design</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Requirements, architecture, decisions</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Design accepted</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2. Simulation</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Autopilot in the loop, mode manager</a:t>
                      </a:r>
                      <a:endParaRPr lang="en-US" sz="1300" dirty="0">
                        <a:latin typeface="Arial" charset="0"/>
                        <a:ea typeface="Arial" charset="0"/>
                        <a:cs typeface="Arial" charset="0"/>
                      </a:endParaRPr>
                    </a:p>
                  </a:txBody>
                  <a:tcPr marL="57785" marR="57785" marT="57785" marB="57785"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Works in simulation</a:t>
                      </a:r>
                      <a:endParaRPr lang="en-US" sz="1300" dirty="0">
                        <a:latin typeface="Arial" charset="0"/>
                        <a:ea typeface="Arial" charset="0"/>
                        <a:cs typeface="Arial" charset="0"/>
                      </a:endParaRPr>
                    </a:p>
                  </a:txBody>
                  <a:tcPr marL="57785" marR="57785" marT="57785" marB="57785"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3. Sensors and perception</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Camera, calibration, odometry, detector</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Camera suitable</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4. Vehicle integration</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Flight controller, wiring, bench tests</a:t>
                      </a:r>
                      <a:endParaRPr lang="en-US" sz="1300" dirty="0">
                        <a:latin typeface="Arial" charset="0"/>
                        <a:ea typeface="Arial" charset="0"/>
                        <a:cs typeface="Arial" charset="0"/>
                      </a:endParaRPr>
                    </a:p>
                  </a:txBody>
                  <a:tcPr marL="57785" marR="57785" marT="57785" marB="57785"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Safe to fly</a:t>
                      </a:r>
                      <a:endParaRPr lang="en-US" sz="1300" dirty="0">
                        <a:latin typeface="Arial" charset="0"/>
                        <a:ea typeface="Arial" charset="0"/>
                        <a:cs typeface="Arial" charset="0"/>
                      </a:endParaRPr>
                    </a:p>
                  </a:txBody>
                  <a:tcPr marL="57785" marR="57785" marT="57785" marB="57785"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r>
              <a:tr h="356870">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5. Flight testing</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Shadow mode, hand-over, waypoints</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Arial" pitchFamily="34" charset="0"/>
                          <a:ea typeface="Arial" pitchFamily="34" charset="-122"/>
                          <a:cs typeface="Arial" pitchFamily="34" charset="-120"/>
                        </a:rPr>
                        <a:t>Hand-over reliable</a:t>
                      </a:r>
                      <a:endParaRPr lang="en-US" sz="1300" dirty="0">
                        <a:latin typeface="Arial" charset="0"/>
                        <a:ea typeface="Arial" charset="0"/>
                        <a:cs typeface="Arial" charset="0"/>
                      </a:endParaRPr>
                    </a:p>
                  </a:txBody>
                  <a:tcPr marL="57785" marR="57785" marT="57785" marB="57785"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5" name="Shape 2"/>
          <p:cNvSpPr/>
          <p:nvPr/>
        </p:nvSpPr>
        <p:spPr>
          <a:xfrm>
            <a:off x="825500" y="4130042"/>
            <a:ext cx="0" cy="741680"/>
          </a:xfrm>
          <a:prstGeom prst="line">
            <a:avLst/>
          </a:prstGeom>
          <a:noFill/>
          <a:ln w="25400">
            <a:solidFill>
              <a:srgbClr val="B4532A"/>
            </a:solidFill>
            <a:prstDash val="solid"/>
          </a:ln>
        </p:spPr>
      </p:sp>
      <p:sp>
        <p:nvSpPr>
          <p:cNvPr id="6" name="Text 3"/>
          <p:cNvSpPr/>
          <p:nvPr/>
        </p:nvSpPr>
        <p:spPr>
          <a:xfrm>
            <a:off x="990600" y="4155442"/>
            <a:ext cx="335740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Simulation first</a:t>
            </a:r>
            <a:endParaRPr lang="en-US" sz="1400" dirty="0"/>
          </a:p>
        </p:txBody>
      </p:sp>
      <p:sp>
        <p:nvSpPr>
          <p:cNvPr id="7" name="Text 4"/>
          <p:cNvSpPr/>
          <p:nvPr/>
        </p:nvSpPr>
        <p:spPr>
          <a:xfrm>
            <a:off x="990600" y="4419600"/>
            <a:ext cx="335740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Software progresses while hardware is on order</a:t>
            </a:r>
            <a:endParaRPr lang="en-US" sz="1200" dirty="0"/>
          </a:p>
        </p:txBody>
      </p:sp>
      <p:sp>
        <p:nvSpPr>
          <p:cNvPr id="8" name="Shape 5"/>
          <p:cNvSpPr/>
          <p:nvPr/>
        </p:nvSpPr>
        <p:spPr>
          <a:xfrm>
            <a:off x="4389914" y="4130042"/>
            <a:ext cx="0" cy="741680"/>
          </a:xfrm>
          <a:prstGeom prst="line">
            <a:avLst/>
          </a:prstGeom>
          <a:noFill/>
          <a:ln w="25400">
            <a:solidFill>
              <a:srgbClr val="B4532A"/>
            </a:solidFill>
            <a:prstDash val="solid"/>
          </a:ln>
        </p:spPr>
      </p:sp>
      <p:sp>
        <p:nvSpPr>
          <p:cNvPr id="9" name="Text 6"/>
          <p:cNvSpPr/>
          <p:nvPr/>
        </p:nvSpPr>
        <p:spPr>
          <a:xfrm>
            <a:off x="4555014" y="4155442"/>
            <a:ext cx="335748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Early camera decision</a:t>
            </a:r>
            <a:endParaRPr lang="en-US" sz="1400" dirty="0"/>
          </a:p>
        </p:txBody>
      </p:sp>
      <p:sp>
        <p:nvSpPr>
          <p:cNvPr id="10" name="Text 7"/>
          <p:cNvSpPr/>
          <p:nvPr/>
        </p:nvSpPr>
        <p:spPr>
          <a:xfrm>
            <a:off x="4555014" y="4419600"/>
            <a:ext cx="33574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Keep or replace the camera on measured results</a:t>
            </a:r>
            <a:endParaRPr lang="en-US" sz="1200" dirty="0"/>
          </a:p>
        </p:txBody>
      </p:sp>
      <p:sp>
        <p:nvSpPr>
          <p:cNvPr id="11" name="Shape 8"/>
          <p:cNvSpPr/>
          <p:nvPr/>
        </p:nvSpPr>
        <p:spPr>
          <a:xfrm>
            <a:off x="7954407" y="4130042"/>
            <a:ext cx="0" cy="741680"/>
          </a:xfrm>
          <a:prstGeom prst="line">
            <a:avLst/>
          </a:prstGeom>
          <a:noFill/>
          <a:ln w="25400">
            <a:solidFill>
              <a:srgbClr val="B4532A"/>
            </a:solidFill>
            <a:prstDash val="solid"/>
          </a:ln>
        </p:spPr>
      </p:sp>
      <p:sp>
        <p:nvSpPr>
          <p:cNvPr id="12" name="Text 9"/>
          <p:cNvSpPr/>
          <p:nvPr/>
        </p:nvSpPr>
        <p:spPr>
          <a:xfrm>
            <a:off x="8119507" y="4155442"/>
            <a:ext cx="335748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Three delivery levels</a:t>
            </a:r>
            <a:endParaRPr lang="en-US" sz="1400" dirty="0"/>
          </a:p>
        </p:txBody>
      </p:sp>
      <p:sp>
        <p:nvSpPr>
          <p:cNvPr id="13" name="Text 10"/>
          <p:cNvSpPr/>
          <p:nvPr/>
        </p:nvSpPr>
        <p:spPr>
          <a:xfrm>
            <a:off x="8119507" y="4419600"/>
            <a:ext cx="33574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Arial" pitchFamily="34" charset="0"/>
                <a:ea typeface="Arial" pitchFamily="34" charset="-122"/>
                <a:cs typeface="Arial" pitchFamily="34" charset="-120"/>
              </a:rPr>
              <a:t>Simulation, then hover hand-over, then waypoints</a:t>
            </a:r>
            <a:endParaRPr lang="en-US" sz="1200" dirty="0"/>
          </a:p>
        </p:txBody>
      </p:sp>
      <p:sp>
        <p:nvSpPr>
          <p:cNvPr id="14" name="Text 11"/>
          <p:cNvSpPr/>
          <p:nvPr/>
        </p:nvSpPr>
        <p:spPr>
          <a:xfrm>
            <a:off x="812800" y="6238242"/>
            <a:ext cx="26431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GPS-Denied Autonomous Drone</a:t>
            </a:r>
            <a:endParaRPr lang="en-US" sz="1200" dirty="0"/>
          </a:p>
        </p:txBody>
      </p:sp>
      <p:sp>
        <p:nvSpPr>
          <p:cNvPr id="15" name="Text 12"/>
          <p:cNvSpPr/>
          <p:nvPr/>
        </p:nvSpPr>
        <p:spPr>
          <a:xfrm>
            <a:off x="11170127" y="6238242"/>
            <a:ext cx="209074"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480"/>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2A"/>
                </a:solidFill>
                <a:latin typeface="Arial" pitchFamily="34" charset="0"/>
                <a:ea typeface="Arial" pitchFamily="34" charset="-122"/>
                <a:cs typeface="Arial" pitchFamily="34" charset="-120"/>
              </a:rPr>
              <a:t>11</a:t>
            </a:r>
            <a:endParaRPr lang="en-US" sz="1200" dirty="0"/>
          </a:p>
        </p:txBody>
      </p:sp>
      <p:sp>
        <p:nvSpPr>
          <p:cNvPr id="3" name="Text 1"/>
          <p:cNvSpPr/>
          <p:nvPr>
            <p:ph type="title"/>
          </p:nvPr>
        </p:nvSpPr>
        <p:spPr>
          <a:xfrm>
            <a:off x="812800" y="11023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A41"/>
                </a:solidFill>
                <a:latin typeface="Georgia" pitchFamily="18" charset="0"/>
                <a:ea typeface="Georgia" pitchFamily="18" charset="-122"/>
                <a:cs typeface="Georgia" pitchFamily="18" charset="-120"/>
              </a:rPr>
              <a:t>Project Scope, Feasibility &amp; Requirements</a:t>
            </a:r>
            <a:endParaRPr lang="en-US" sz="3000" dirty="0"/>
          </a:p>
        </p:txBody>
      </p:sp>
      <p:sp>
        <p:nvSpPr>
          <p:cNvPr id="4" name="Shape 2"/>
          <p:cNvSpPr/>
          <p:nvPr/>
        </p:nvSpPr>
        <p:spPr>
          <a:xfrm>
            <a:off x="812800" y="1781814"/>
            <a:ext cx="3285014" cy="0"/>
          </a:xfrm>
          <a:prstGeom prst="line">
            <a:avLst/>
          </a:prstGeom>
          <a:noFill/>
          <a:ln w="12700">
            <a:solidFill>
              <a:srgbClr val="1B2A41"/>
            </a:solidFill>
            <a:prstDash val="solid"/>
          </a:ln>
        </p:spPr>
      </p:sp>
      <p:sp>
        <p:nvSpPr>
          <p:cNvPr id="5" name="Text 3"/>
          <p:cNvSpPr/>
          <p:nvPr/>
        </p:nvSpPr>
        <p:spPr>
          <a:xfrm>
            <a:off x="812800" y="1912621"/>
            <a:ext cx="338356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In scope</a:t>
            </a:r>
            <a:endParaRPr lang="en-US" sz="1400" dirty="0"/>
          </a:p>
        </p:txBody>
      </p:sp>
      <p:sp>
        <p:nvSpPr>
          <p:cNvPr id="6" name="Text 4"/>
          <p:cNvSpPr/>
          <p:nvPr/>
        </p:nvSpPr>
        <p:spPr>
          <a:xfrm>
            <a:off x="910844" y="2227579"/>
            <a:ext cx="3277900" cy="1263650"/>
          </a:xfrm>
          <a:prstGeom prst="rect">
            <a:avLst/>
          </a:prstGeom>
          <a:noFill/>
          <a:ln/>
        </p:spPr>
        <p:txBody>
          <a:bodyPr wrap="square" lIns="0" tIns="0" rIns="0" bIns="0" rtlCol="0" anchor="t">
            <a:normAutofit/>
          </a:bodyPr>
          <a:lstStyle/>
          <a:p>
            <a:pPr algn="l" marL="155956" indent="-155956">
              <a:lnSpc>
                <a:spcPts val="1950"/>
              </a:lnSpc>
              <a:buSzPct val="100000"/>
              <a:buChar char="•"/>
            </a:pPr>
            <a:r>
              <a:rPr lang="en-US" sz="1300" dirty="0">
                <a:solidFill>
                  <a:srgbClr val="3D4A5C"/>
                </a:solidFill>
                <a:latin typeface="Arial" pitchFamily="34" charset="0"/>
                <a:ea typeface="Arial" pitchFamily="34" charset="-122"/>
                <a:cs typeface="Arial" pitchFamily="34" charset="-120"/>
              </a:rPr>
              <a:t>Position hold on GPS and on vision</a:t>
            </a:r>
            <a:endParaRPr lang="en-US" sz="1300" dirty="0"/>
          </a:p>
          <a:p>
            <a:pPr algn="l" marL="155956" indent="-155956">
              <a:lnSpc>
                <a:spcPts val="1950"/>
              </a:lnSpc>
              <a:buSzPct val="100000"/>
              <a:buChar char="•"/>
            </a:pPr>
            <a:r>
              <a:rPr lang="en-US" sz="1300" dirty="0">
                <a:solidFill>
                  <a:srgbClr val="3D4A5C"/>
                </a:solidFill>
                <a:latin typeface="Arial" pitchFamily="34" charset="0"/>
                <a:ea typeface="Arial" pitchFamily="34" charset="-122"/>
                <a:cs typeface="Arial" pitchFamily="34" charset="-120"/>
              </a:rPr>
              <a:t>Automatic hand-over between them</a:t>
            </a:r>
            <a:endParaRPr lang="en-US" sz="1300" dirty="0"/>
          </a:p>
          <a:p>
            <a:pPr algn="l" marL="155956" indent="-155956">
              <a:lnSpc>
                <a:spcPts val="1950"/>
              </a:lnSpc>
              <a:buSzPct val="100000"/>
              <a:buChar char="•"/>
            </a:pPr>
            <a:r>
              <a:rPr lang="en-US" sz="1300" dirty="0">
                <a:solidFill>
                  <a:srgbClr val="3D4A5C"/>
                </a:solidFill>
                <a:latin typeface="Arial" pitchFamily="34" charset="0"/>
                <a:ea typeface="Arial" pitchFamily="34" charset="-122"/>
                <a:cs typeface="Arial" pitchFamily="34" charset="-120"/>
              </a:rPr>
              <a:t>Short waypoint routes up to 2 m/s</a:t>
            </a:r>
            <a:endParaRPr lang="en-US" sz="1300" dirty="0"/>
          </a:p>
          <a:p>
            <a:pPr algn="l" marL="155956" indent="-155956">
              <a:lnSpc>
                <a:spcPts val="1950"/>
              </a:lnSpc>
              <a:buSzPct val="100000"/>
              <a:buChar char="•"/>
            </a:pPr>
            <a:r>
              <a:rPr lang="en-US" sz="1300" dirty="0">
                <a:solidFill>
                  <a:srgbClr val="3D4A5C"/>
                </a:solidFill>
                <a:latin typeface="Arial" pitchFamily="34" charset="0"/>
                <a:ea typeface="Arial" pitchFamily="34" charset="-122"/>
                <a:cs typeface="Arial" pitchFamily="34" charset="-120"/>
              </a:rPr>
              <a:t>Stopping for obstacles ahead</a:t>
            </a:r>
            <a:endParaRPr lang="en-US" sz="1300" dirty="0"/>
          </a:p>
          <a:p>
            <a:pPr algn="l" marL="155956" indent="-155956">
              <a:lnSpc>
                <a:spcPts val="1950"/>
              </a:lnSpc>
              <a:buSzPct val="100000"/>
              <a:buChar char="•"/>
            </a:pPr>
            <a:r>
              <a:rPr lang="en-US" sz="1300" dirty="0">
                <a:solidFill>
                  <a:srgbClr val="3D4A5C"/>
                </a:solidFill>
                <a:latin typeface="Arial" pitchFamily="34" charset="0"/>
                <a:ea typeface="Arial" pitchFamily="34" charset="-122"/>
                <a:cs typeface="Arial" pitchFamily="34" charset="-120"/>
              </a:rPr>
              <a:t>Object detection with distance</a:t>
            </a:r>
            <a:endParaRPr lang="en-US" sz="1300" dirty="0"/>
          </a:p>
        </p:txBody>
      </p:sp>
      <p:sp>
        <p:nvSpPr>
          <p:cNvPr id="7" name="Shape 5"/>
          <p:cNvSpPr/>
          <p:nvPr/>
        </p:nvSpPr>
        <p:spPr>
          <a:xfrm>
            <a:off x="4453414" y="1781814"/>
            <a:ext cx="3285093" cy="0"/>
          </a:xfrm>
          <a:prstGeom prst="line">
            <a:avLst/>
          </a:prstGeom>
          <a:noFill/>
          <a:ln w="12700">
            <a:solidFill>
              <a:srgbClr val="1B2A41"/>
            </a:solidFill>
            <a:prstDash val="solid"/>
          </a:ln>
        </p:spPr>
      </p:sp>
      <p:sp>
        <p:nvSpPr>
          <p:cNvPr id="8" name="Text 6"/>
          <p:cNvSpPr/>
          <p:nvPr/>
        </p:nvSpPr>
        <p:spPr>
          <a:xfrm>
            <a:off x="4453414" y="1912621"/>
            <a:ext cx="338364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Out of scope</a:t>
            </a:r>
            <a:endParaRPr lang="en-US" sz="1400" dirty="0"/>
          </a:p>
        </p:txBody>
      </p:sp>
      <p:sp>
        <p:nvSpPr>
          <p:cNvPr id="9" name="Text 7"/>
          <p:cNvSpPr/>
          <p:nvPr/>
        </p:nvSpPr>
        <p:spPr>
          <a:xfrm>
            <a:off x="4551458" y="2227579"/>
            <a:ext cx="3277982" cy="1263650"/>
          </a:xfrm>
          <a:prstGeom prst="rect">
            <a:avLst/>
          </a:prstGeom>
          <a:noFill/>
          <a:ln/>
        </p:spPr>
        <p:txBody>
          <a:bodyPr wrap="square" lIns="0" tIns="0" rIns="0" bIns="0" rtlCol="0" anchor="t">
            <a:normAutofit/>
          </a:bodyPr>
          <a:lstStyle/>
          <a:p>
            <a:pPr algn="l" marL="155956" indent="-155956">
              <a:lnSpc>
                <a:spcPts val="1950"/>
              </a:lnSpc>
              <a:buSzPct val="100000"/>
              <a:buChar char="•"/>
            </a:pPr>
            <a:r>
              <a:rPr lang="en-US" sz="1300" dirty="0">
                <a:solidFill>
                  <a:srgbClr val="3D4A5C"/>
                </a:solidFill>
                <a:latin typeface="Arial" pitchFamily="34" charset="0"/>
                <a:ea typeface="Arial" pitchFamily="34" charset="-122"/>
                <a:cs typeface="Arial" pitchFamily="34" charset="-120"/>
              </a:rPr>
              <a:t>Night or featureless scenes</a:t>
            </a:r>
            <a:endParaRPr lang="en-US" sz="1300" dirty="0"/>
          </a:p>
          <a:p>
            <a:pPr algn="l" marL="155956" indent="-155956">
              <a:lnSpc>
                <a:spcPts val="1950"/>
              </a:lnSpc>
              <a:buSzPct val="100000"/>
              <a:buChar char="•"/>
            </a:pPr>
            <a:r>
              <a:rPr lang="en-US" sz="1300" dirty="0">
                <a:solidFill>
                  <a:srgbClr val="3D4A5C"/>
                </a:solidFill>
                <a:latin typeface="Arial" pitchFamily="34" charset="0"/>
                <a:ea typeface="Arial" pitchFamily="34" charset="-122"/>
                <a:cs typeface="Arial" pitchFamily="34" charset="-120"/>
              </a:rPr>
              <a:t>High-speed or long-range flight</a:t>
            </a:r>
            <a:endParaRPr lang="en-US" sz="1300" dirty="0"/>
          </a:p>
          <a:p>
            <a:pPr algn="l" marL="155956" indent="-155956">
              <a:lnSpc>
                <a:spcPts val="1950"/>
              </a:lnSpc>
              <a:buSzPct val="100000"/>
              <a:buChar char="•"/>
            </a:pPr>
            <a:r>
              <a:rPr lang="en-US" sz="1300" dirty="0">
                <a:solidFill>
                  <a:srgbClr val="3D4A5C"/>
                </a:solidFill>
                <a:latin typeface="Arial" pitchFamily="34" charset="0"/>
                <a:ea typeface="Arial" pitchFamily="34" charset="-122"/>
                <a:cs typeface="Arial" pitchFamily="34" charset="-120"/>
              </a:rPr>
              <a:t>Planning a path around obstacles</a:t>
            </a:r>
            <a:endParaRPr lang="en-US" sz="1300" dirty="0"/>
          </a:p>
          <a:p>
            <a:pPr algn="l" marL="155956" indent="-155956">
              <a:lnSpc>
                <a:spcPts val="1950"/>
              </a:lnSpc>
              <a:buSzPct val="100000"/>
              <a:buChar char="•"/>
            </a:pPr>
            <a:r>
              <a:rPr lang="en-US" sz="1300" dirty="0">
                <a:solidFill>
                  <a:srgbClr val="3D4A5C"/>
                </a:solidFill>
                <a:latin typeface="Arial" pitchFamily="34" charset="0"/>
                <a:ea typeface="Arial" pitchFamily="34" charset="-122"/>
                <a:cs typeface="Arial" pitchFamily="34" charset="-120"/>
              </a:rPr>
              <a:t>Map building during flight</a:t>
            </a:r>
            <a:endParaRPr lang="en-US" sz="1300" dirty="0"/>
          </a:p>
          <a:p>
            <a:pPr algn="l" marL="155956" indent="-155956">
              <a:lnSpc>
                <a:spcPts val="1950"/>
              </a:lnSpc>
              <a:buSzPct val="100000"/>
              <a:buChar char="•"/>
            </a:pPr>
            <a:r>
              <a:rPr lang="en-US" sz="1300" dirty="0">
                <a:solidFill>
                  <a:srgbClr val="3D4A5C"/>
                </a:solidFill>
                <a:latin typeface="Arial" pitchFamily="34" charset="0"/>
                <a:ea typeface="Arial" pitchFamily="34" charset="-122"/>
                <a:cs typeface="Arial" pitchFamily="34" charset="-120"/>
              </a:rPr>
              <a:t>Any real GPS jamming</a:t>
            </a:r>
            <a:endParaRPr lang="en-US" sz="1300" dirty="0"/>
          </a:p>
        </p:txBody>
      </p:sp>
      <p:sp>
        <p:nvSpPr>
          <p:cNvPr id="10" name="Shape 8"/>
          <p:cNvSpPr/>
          <p:nvPr/>
        </p:nvSpPr>
        <p:spPr>
          <a:xfrm>
            <a:off x="8094107" y="1781814"/>
            <a:ext cx="3285093" cy="0"/>
          </a:xfrm>
          <a:prstGeom prst="line">
            <a:avLst/>
          </a:prstGeom>
          <a:noFill/>
          <a:ln w="12700">
            <a:solidFill>
              <a:srgbClr val="B4532A"/>
            </a:solidFill>
            <a:prstDash val="solid"/>
          </a:ln>
        </p:spPr>
      </p:sp>
      <p:sp>
        <p:nvSpPr>
          <p:cNvPr id="11" name="Text 9"/>
          <p:cNvSpPr/>
          <p:nvPr/>
        </p:nvSpPr>
        <p:spPr>
          <a:xfrm>
            <a:off x="8094107" y="1912621"/>
            <a:ext cx="338364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A41"/>
                </a:solidFill>
                <a:latin typeface="Arial" pitchFamily="34" charset="0"/>
                <a:ea typeface="Arial" pitchFamily="34" charset="-122"/>
                <a:cs typeface="Arial" pitchFamily="34" charset="-120"/>
              </a:rPr>
              <a:t>Feasibility</a:t>
            </a:r>
            <a:endParaRPr lang="en-US" sz="1400" dirty="0"/>
          </a:p>
        </p:txBody>
      </p:sp>
      <p:sp>
        <p:nvSpPr>
          <p:cNvPr id="12" name="Text 10"/>
          <p:cNvSpPr/>
          <p:nvPr/>
        </p:nvSpPr>
        <p:spPr>
          <a:xfrm>
            <a:off x="8094107" y="2227579"/>
            <a:ext cx="3383646"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B2A41"/>
                </a:solidFill>
                <a:latin typeface="Arial" pitchFamily="34" charset="0"/>
                <a:ea typeface="Arial" pitchFamily="34" charset="-122"/>
                <a:cs typeface="Arial" pitchFamily="34" charset="-120"/>
              </a:rPr>
              <a:t>Technical:</a:t>
            </a:r>
            <a:r>
              <a:rPr lang="en-US" sz="1300" dirty="0">
                <a:solidFill>
                  <a:srgbClr val="3D4A5C"/>
                </a:solidFill>
                <a:latin typeface="Arial" pitchFamily="34" charset="0"/>
                <a:ea typeface="Arial" pitchFamily="34" charset="-122"/>
                <a:cs typeface="Arial" pitchFamily="34" charset="-120"/>
              </a:rPr>
              <a:t> open-source stack; the autopilot already supports vision input.</a:t>
            </a:r>
            <a:endParaRPr lang="en-US" sz="1300" dirty="0"/>
          </a:p>
        </p:txBody>
      </p:sp>
      <p:sp>
        <p:nvSpPr>
          <p:cNvPr id="13" name="Text 11"/>
          <p:cNvSpPr/>
          <p:nvPr/>
        </p:nvSpPr>
        <p:spPr>
          <a:xfrm>
            <a:off x="8094107" y="2807971"/>
            <a:ext cx="3383646" cy="743585"/>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B2A41"/>
                </a:solidFill>
                <a:latin typeface="Arial" pitchFamily="34" charset="0"/>
                <a:ea typeface="Arial" pitchFamily="34" charset="-122"/>
                <a:cs typeface="Arial" pitchFamily="34" charset="-120"/>
              </a:rPr>
              <a:t>Economic:</a:t>
            </a:r>
            <a:r>
              <a:rPr lang="en-US" sz="1300" dirty="0">
                <a:solidFill>
                  <a:srgbClr val="3D4A5C"/>
                </a:solidFill>
                <a:latin typeface="Arial" pitchFamily="34" charset="0"/>
                <a:ea typeface="Arial" pitchFamily="34" charset="-122"/>
                <a:cs typeface="Arial" pitchFamily="34" charset="-120"/>
              </a:rPr>
              <a:t> computer, camera and radio are owned. About ₹54,000 to ₹1,12,000 more, estimated.</a:t>
            </a:r>
            <a:endParaRPr lang="en-US" sz="1300" dirty="0"/>
          </a:p>
        </p:txBody>
      </p:sp>
      <p:sp>
        <p:nvSpPr>
          <p:cNvPr id="14" name="Text 12"/>
          <p:cNvSpPr/>
          <p:nvPr/>
        </p:nvSpPr>
        <p:spPr>
          <a:xfrm>
            <a:off x="8094107" y="3627754"/>
            <a:ext cx="3383646"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B2A41"/>
                </a:solidFill>
                <a:latin typeface="Arial" pitchFamily="34" charset="0"/>
                <a:ea typeface="Arial" pitchFamily="34" charset="-122"/>
                <a:cs typeface="Arial" pitchFamily="34" charset="-120"/>
              </a:rPr>
              <a:t>Operational:</a:t>
            </a:r>
            <a:r>
              <a:rPr lang="en-US" sz="1300" dirty="0">
                <a:solidFill>
                  <a:srgbClr val="3D4A5C"/>
                </a:solidFill>
                <a:latin typeface="Arial" pitchFamily="34" charset="0"/>
                <a:ea typeface="Arial" pitchFamily="34" charset="-122"/>
                <a:cs typeface="Arial" pitchFamily="34" charset="-120"/>
              </a:rPr>
              <a:t> under 2 kg, line of sight, safety pilot always present.</a:t>
            </a:r>
            <a:endParaRPr lang="en-US" sz="1300" dirty="0"/>
          </a:p>
        </p:txBody>
      </p:sp>
      <p:sp>
        <p:nvSpPr>
          <p:cNvPr id="15" name="Text 13"/>
          <p:cNvSpPr/>
          <p:nvPr/>
        </p:nvSpPr>
        <p:spPr>
          <a:xfrm>
            <a:off x="812800" y="6238242"/>
            <a:ext cx="26431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GPS-Denied Autonomous Drone</a:t>
            </a:r>
            <a:endParaRPr lang="en-US" sz="1200" dirty="0"/>
          </a:p>
        </p:txBody>
      </p:sp>
      <p:sp>
        <p:nvSpPr>
          <p:cNvPr id="16" name="Text 14"/>
          <p:cNvSpPr/>
          <p:nvPr/>
        </p:nvSpPr>
        <p:spPr>
          <a:xfrm>
            <a:off x="11158855" y="6238242"/>
            <a:ext cx="22034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480"/>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2A"/>
                </a:solidFill>
                <a:latin typeface="Arial" pitchFamily="34" charset="0"/>
                <a:ea typeface="Arial" pitchFamily="34" charset="-122"/>
                <a:cs typeface="Arial" pitchFamily="34" charset="-120"/>
              </a:rPr>
              <a:t>12</a:t>
            </a:r>
            <a:endParaRPr lang="en-US" sz="1200" dirty="0"/>
          </a:p>
        </p:txBody>
      </p:sp>
      <p:sp>
        <p:nvSpPr>
          <p:cNvPr id="3" name="Text 1"/>
          <p:cNvSpPr/>
          <p:nvPr>
            <p:ph type="title"/>
          </p:nvPr>
        </p:nvSpPr>
        <p:spPr>
          <a:xfrm>
            <a:off x="812800" y="11023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A41"/>
                </a:solidFill>
                <a:latin typeface="Georgia" pitchFamily="18" charset="0"/>
                <a:ea typeface="Georgia" pitchFamily="18" charset="-122"/>
                <a:cs typeface="Georgia" pitchFamily="18" charset="-120"/>
              </a:rPr>
              <a:t>Timeline &amp; Milestones</a:t>
            </a:r>
            <a:endParaRPr lang="en-US" sz="3000" dirty="0"/>
          </a:p>
        </p:txBody>
      </p:sp>
      <p:sp>
        <p:nvSpPr>
          <p:cNvPr id="4" name="Text 2"/>
          <p:cNvSpPr/>
          <p:nvPr/>
        </p:nvSpPr>
        <p:spPr>
          <a:xfrm>
            <a:off x="812800" y="1750064"/>
            <a:ext cx="27470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Week</a:t>
            </a:r>
            <a:endParaRPr lang="en-US" sz="1200" dirty="0"/>
          </a:p>
        </p:txBody>
      </p:sp>
      <p:sp>
        <p:nvSpPr>
          <p:cNvPr id="5" name="Text 3"/>
          <p:cNvSpPr/>
          <p:nvPr/>
        </p:nvSpPr>
        <p:spPr>
          <a:xfrm>
            <a:off x="3632200" y="1750064"/>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5651500" y="1750064"/>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10</a:t>
            </a:r>
            <a:endParaRPr lang="en-US" sz="1200" dirty="0"/>
          </a:p>
        </p:txBody>
      </p:sp>
      <p:sp>
        <p:nvSpPr>
          <p:cNvPr id="7" name="Text 5"/>
          <p:cNvSpPr/>
          <p:nvPr/>
        </p:nvSpPr>
        <p:spPr>
          <a:xfrm>
            <a:off x="7893050" y="1750064"/>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20</a:t>
            </a:r>
            <a:endParaRPr lang="en-US" sz="1200" dirty="0"/>
          </a:p>
        </p:txBody>
      </p:sp>
      <p:sp>
        <p:nvSpPr>
          <p:cNvPr id="8" name="Text 6"/>
          <p:cNvSpPr/>
          <p:nvPr/>
        </p:nvSpPr>
        <p:spPr>
          <a:xfrm>
            <a:off x="10128250" y="1750064"/>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30</a:t>
            </a:r>
            <a:endParaRPr lang="en-US" sz="1200" dirty="0"/>
          </a:p>
        </p:txBody>
      </p:sp>
      <p:sp>
        <p:nvSpPr>
          <p:cNvPr id="9" name="Text 7"/>
          <p:cNvSpPr/>
          <p:nvPr/>
        </p:nvSpPr>
        <p:spPr>
          <a:xfrm>
            <a:off x="812800" y="2065021"/>
            <a:ext cx="274701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A41"/>
                </a:solidFill>
                <a:latin typeface="Arial" pitchFamily="34" charset="0"/>
                <a:ea typeface="Arial" pitchFamily="34" charset="-122"/>
                <a:cs typeface="Arial" pitchFamily="34" charset="-120"/>
              </a:rPr>
              <a:t>Design and set-up</a:t>
            </a:r>
            <a:endParaRPr lang="en-US" sz="1300" dirty="0"/>
          </a:p>
        </p:txBody>
      </p:sp>
      <p:sp>
        <p:nvSpPr>
          <p:cNvPr id="10" name="Shape 8"/>
          <p:cNvSpPr/>
          <p:nvPr/>
        </p:nvSpPr>
        <p:spPr>
          <a:xfrm>
            <a:off x="3632200" y="2065021"/>
            <a:ext cx="7620000" cy="215900"/>
          </a:xfrm>
          <a:prstGeom prst="rect">
            <a:avLst/>
          </a:prstGeom>
          <a:solidFill>
            <a:srgbClr val="ECEBE4"/>
          </a:solidFill>
          <a:ln/>
        </p:spPr>
      </p:sp>
      <p:sp>
        <p:nvSpPr>
          <p:cNvPr id="11" name="Shape 9"/>
          <p:cNvSpPr/>
          <p:nvPr/>
        </p:nvSpPr>
        <p:spPr>
          <a:xfrm>
            <a:off x="3632200" y="2065021"/>
            <a:ext cx="673100" cy="215900"/>
          </a:xfrm>
          <a:prstGeom prst="rect">
            <a:avLst/>
          </a:prstGeom>
          <a:solidFill>
            <a:srgbClr val="1B2A41"/>
          </a:solidFill>
          <a:ln/>
        </p:spPr>
      </p:sp>
      <p:sp>
        <p:nvSpPr>
          <p:cNvPr id="12" name="Text 10"/>
          <p:cNvSpPr/>
          <p:nvPr/>
        </p:nvSpPr>
        <p:spPr>
          <a:xfrm>
            <a:off x="812800" y="2397764"/>
            <a:ext cx="274701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A41"/>
                </a:solidFill>
                <a:latin typeface="Arial" pitchFamily="34" charset="0"/>
                <a:ea typeface="Arial" pitchFamily="34" charset="-122"/>
                <a:cs typeface="Arial" pitchFamily="34" charset="-120"/>
              </a:rPr>
              <a:t>Simulation and navigation logic</a:t>
            </a:r>
            <a:endParaRPr lang="en-US" sz="1300" dirty="0"/>
          </a:p>
        </p:txBody>
      </p:sp>
      <p:sp>
        <p:nvSpPr>
          <p:cNvPr id="13" name="Shape 11"/>
          <p:cNvSpPr/>
          <p:nvPr/>
        </p:nvSpPr>
        <p:spPr>
          <a:xfrm>
            <a:off x="3632200" y="2397764"/>
            <a:ext cx="7620000" cy="215900"/>
          </a:xfrm>
          <a:prstGeom prst="rect">
            <a:avLst/>
          </a:prstGeom>
          <a:solidFill>
            <a:srgbClr val="ECEBE4"/>
          </a:solidFill>
          <a:ln/>
        </p:spPr>
      </p:sp>
      <p:sp>
        <p:nvSpPr>
          <p:cNvPr id="14" name="Shape 12"/>
          <p:cNvSpPr/>
          <p:nvPr/>
        </p:nvSpPr>
        <p:spPr>
          <a:xfrm>
            <a:off x="4305300" y="2397764"/>
            <a:ext cx="3810000" cy="215900"/>
          </a:xfrm>
          <a:prstGeom prst="rect">
            <a:avLst/>
          </a:prstGeom>
          <a:solidFill>
            <a:srgbClr val="1B2A41"/>
          </a:solidFill>
          <a:ln/>
        </p:spPr>
      </p:sp>
      <p:sp>
        <p:nvSpPr>
          <p:cNvPr id="15" name="Text 13"/>
          <p:cNvSpPr/>
          <p:nvPr/>
        </p:nvSpPr>
        <p:spPr>
          <a:xfrm>
            <a:off x="812800" y="2730500"/>
            <a:ext cx="274701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A41"/>
                </a:solidFill>
                <a:latin typeface="Arial" pitchFamily="34" charset="0"/>
                <a:ea typeface="Arial" pitchFamily="34" charset="-122"/>
                <a:cs typeface="Arial" pitchFamily="34" charset="-120"/>
              </a:rPr>
              <a:t>Sensors, odometry, AI</a:t>
            </a:r>
            <a:endParaRPr lang="en-US" sz="1300" dirty="0"/>
          </a:p>
        </p:txBody>
      </p:sp>
      <p:sp>
        <p:nvSpPr>
          <p:cNvPr id="16" name="Shape 14"/>
          <p:cNvSpPr/>
          <p:nvPr/>
        </p:nvSpPr>
        <p:spPr>
          <a:xfrm>
            <a:off x="3632200" y="2730500"/>
            <a:ext cx="7620000" cy="215900"/>
          </a:xfrm>
          <a:prstGeom prst="rect">
            <a:avLst/>
          </a:prstGeom>
          <a:solidFill>
            <a:srgbClr val="ECEBE4"/>
          </a:solidFill>
          <a:ln/>
        </p:spPr>
      </p:sp>
      <p:sp>
        <p:nvSpPr>
          <p:cNvPr id="17" name="Shape 15"/>
          <p:cNvSpPr/>
          <p:nvPr/>
        </p:nvSpPr>
        <p:spPr>
          <a:xfrm>
            <a:off x="4305300" y="2730500"/>
            <a:ext cx="2914650" cy="215900"/>
          </a:xfrm>
          <a:prstGeom prst="rect">
            <a:avLst/>
          </a:prstGeom>
          <a:solidFill>
            <a:srgbClr val="B4532A"/>
          </a:solidFill>
          <a:ln/>
        </p:spPr>
      </p:sp>
      <p:sp>
        <p:nvSpPr>
          <p:cNvPr id="18" name="Text 16"/>
          <p:cNvSpPr/>
          <p:nvPr/>
        </p:nvSpPr>
        <p:spPr>
          <a:xfrm>
            <a:off x="812800" y="3063242"/>
            <a:ext cx="274701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A41"/>
                </a:solidFill>
                <a:latin typeface="Arial" pitchFamily="34" charset="0"/>
                <a:ea typeface="Arial" pitchFamily="34" charset="-122"/>
                <a:cs typeface="Arial" pitchFamily="34" charset="-120"/>
              </a:rPr>
              <a:t>Vehicle build and integration</a:t>
            </a:r>
            <a:endParaRPr lang="en-US" sz="1300" dirty="0"/>
          </a:p>
        </p:txBody>
      </p:sp>
      <p:sp>
        <p:nvSpPr>
          <p:cNvPr id="19" name="Shape 17"/>
          <p:cNvSpPr/>
          <p:nvPr/>
        </p:nvSpPr>
        <p:spPr>
          <a:xfrm>
            <a:off x="3632200" y="3063242"/>
            <a:ext cx="7620000" cy="215900"/>
          </a:xfrm>
          <a:prstGeom prst="rect">
            <a:avLst/>
          </a:prstGeom>
          <a:solidFill>
            <a:srgbClr val="ECEBE4"/>
          </a:solidFill>
          <a:ln/>
        </p:spPr>
      </p:sp>
      <p:sp>
        <p:nvSpPr>
          <p:cNvPr id="20" name="Shape 18"/>
          <p:cNvSpPr/>
          <p:nvPr/>
        </p:nvSpPr>
        <p:spPr>
          <a:xfrm>
            <a:off x="6546850" y="3063242"/>
            <a:ext cx="2019300" cy="215900"/>
          </a:xfrm>
          <a:prstGeom prst="rect">
            <a:avLst/>
          </a:prstGeom>
          <a:solidFill>
            <a:srgbClr val="1B2A41"/>
          </a:solidFill>
          <a:ln/>
        </p:spPr>
      </p:sp>
      <p:sp>
        <p:nvSpPr>
          <p:cNvPr id="21" name="Text 19"/>
          <p:cNvSpPr/>
          <p:nvPr/>
        </p:nvSpPr>
        <p:spPr>
          <a:xfrm>
            <a:off x="812800" y="3395979"/>
            <a:ext cx="274701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A41"/>
                </a:solidFill>
                <a:latin typeface="Arial" pitchFamily="34" charset="0"/>
                <a:ea typeface="Arial" pitchFamily="34" charset="-122"/>
                <a:cs typeface="Arial" pitchFamily="34" charset="-120"/>
              </a:rPr>
              <a:t>Flight testing</a:t>
            </a:r>
            <a:endParaRPr lang="en-US" sz="1300" dirty="0"/>
          </a:p>
        </p:txBody>
      </p:sp>
      <p:sp>
        <p:nvSpPr>
          <p:cNvPr id="22" name="Shape 20"/>
          <p:cNvSpPr/>
          <p:nvPr/>
        </p:nvSpPr>
        <p:spPr>
          <a:xfrm>
            <a:off x="3632200" y="3395979"/>
            <a:ext cx="7620000" cy="215900"/>
          </a:xfrm>
          <a:prstGeom prst="rect">
            <a:avLst/>
          </a:prstGeom>
          <a:solidFill>
            <a:srgbClr val="ECEBE4"/>
          </a:solidFill>
          <a:ln/>
        </p:spPr>
      </p:sp>
      <p:sp>
        <p:nvSpPr>
          <p:cNvPr id="23" name="Shape 21"/>
          <p:cNvSpPr/>
          <p:nvPr/>
        </p:nvSpPr>
        <p:spPr>
          <a:xfrm>
            <a:off x="8559800" y="3395979"/>
            <a:ext cx="1790700" cy="215900"/>
          </a:xfrm>
          <a:prstGeom prst="rect">
            <a:avLst/>
          </a:prstGeom>
          <a:solidFill>
            <a:srgbClr val="B4532A"/>
          </a:solidFill>
          <a:ln/>
        </p:spPr>
      </p:sp>
      <p:sp>
        <p:nvSpPr>
          <p:cNvPr id="24" name="Text 22"/>
          <p:cNvSpPr/>
          <p:nvPr/>
        </p:nvSpPr>
        <p:spPr>
          <a:xfrm>
            <a:off x="812800" y="3728721"/>
            <a:ext cx="274701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A41"/>
                </a:solidFill>
                <a:latin typeface="Arial" pitchFamily="34" charset="0"/>
                <a:ea typeface="Arial" pitchFamily="34" charset="-122"/>
                <a:cs typeface="Arial" pitchFamily="34" charset="-120"/>
              </a:rPr>
              <a:t>Evaluation and report</a:t>
            </a:r>
            <a:endParaRPr lang="en-US" sz="1300" dirty="0"/>
          </a:p>
        </p:txBody>
      </p:sp>
      <p:sp>
        <p:nvSpPr>
          <p:cNvPr id="25" name="Shape 23"/>
          <p:cNvSpPr/>
          <p:nvPr/>
        </p:nvSpPr>
        <p:spPr>
          <a:xfrm>
            <a:off x="3632200" y="3728721"/>
            <a:ext cx="7620000" cy="215900"/>
          </a:xfrm>
          <a:prstGeom prst="rect">
            <a:avLst/>
          </a:prstGeom>
          <a:solidFill>
            <a:srgbClr val="ECEBE4"/>
          </a:solidFill>
          <a:ln/>
        </p:spPr>
      </p:sp>
      <p:sp>
        <p:nvSpPr>
          <p:cNvPr id="26" name="Shape 24"/>
          <p:cNvSpPr/>
          <p:nvPr/>
        </p:nvSpPr>
        <p:spPr>
          <a:xfrm>
            <a:off x="10356850" y="3728721"/>
            <a:ext cx="895350" cy="215900"/>
          </a:xfrm>
          <a:prstGeom prst="rect">
            <a:avLst/>
          </a:prstGeom>
          <a:solidFill>
            <a:srgbClr val="1B2A41"/>
          </a:solidFill>
          <a:ln/>
        </p:spPr>
      </p:sp>
      <p:sp>
        <p:nvSpPr>
          <p:cNvPr id="27" name="Shape 25"/>
          <p:cNvSpPr/>
          <p:nvPr/>
        </p:nvSpPr>
        <p:spPr>
          <a:xfrm>
            <a:off x="812800" y="4191639"/>
            <a:ext cx="10566400" cy="0"/>
          </a:xfrm>
          <a:prstGeom prst="line">
            <a:avLst/>
          </a:prstGeom>
          <a:noFill/>
          <a:ln w="6350">
            <a:solidFill>
              <a:srgbClr val="D9D8D0"/>
            </a:solidFill>
            <a:prstDash val="solid"/>
          </a:ln>
        </p:spPr>
      </p:sp>
      <p:sp>
        <p:nvSpPr>
          <p:cNvPr id="28" name="Text 26"/>
          <p:cNvSpPr/>
          <p:nvPr/>
        </p:nvSpPr>
        <p:spPr>
          <a:xfrm>
            <a:off x="812800" y="4345942"/>
            <a:ext cx="1706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2A"/>
                </a:solidFill>
                <a:latin typeface="Arial" pitchFamily="34" charset="0"/>
                <a:ea typeface="Arial" pitchFamily="34" charset="-122"/>
                <a:cs typeface="Arial" pitchFamily="34" charset="-120"/>
              </a:rPr>
              <a:t>Week 3</a:t>
            </a:r>
            <a:endParaRPr lang="en-US" sz="1200" dirty="0"/>
          </a:p>
        </p:txBody>
      </p:sp>
      <p:sp>
        <p:nvSpPr>
          <p:cNvPr id="29" name="Text 27"/>
          <p:cNvSpPr/>
          <p:nvPr/>
        </p:nvSpPr>
        <p:spPr>
          <a:xfrm>
            <a:off x="812800" y="4584700"/>
            <a:ext cx="1706007"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C"/>
                </a:solidFill>
                <a:latin typeface="Arial" pitchFamily="34" charset="0"/>
                <a:ea typeface="Arial" pitchFamily="34" charset="-122"/>
                <a:cs typeface="Arial" pitchFamily="34" charset="-120"/>
              </a:rPr>
              <a:t>Design accepted</a:t>
            </a:r>
            <a:endParaRPr lang="en-US" sz="1200" dirty="0"/>
          </a:p>
        </p:txBody>
      </p:sp>
      <p:sp>
        <p:nvSpPr>
          <p:cNvPr id="30" name="Text 28"/>
          <p:cNvSpPr/>
          <p:nvPr/>
        </p:nvSpPr>
        <p:spPr>
          <a:xfrm>
            <a:off x="2595007" y="4345942"/>
            <a:ext cx="17060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2A"/>
                </a:solidFill>
                <a:latin typeface="Arial" pitchFamily="34" charset="0"/>
                <a:ea typeface="Arial" pitchFamily="34" charset="-122"/>
                <a:cs typeface="Arial" pitchFamily="34" charset="-120"/>
              </a:rPr>
              <a:t>Week 13</a:t>
            </a:r>
            <a:endParaRPr lang="en-US" sz="1200" dirty="0"/>
          </a:p>
        </p:txBody>
      </p:sp>
      <p:sp>
        <p:nvSpPr>
          <p:cNvPr id="31" name="Text 29"/>
          <p:cNvSpPr/>
          <p:nvPr/>
        </p:nvSpPr>
        <p:spPr>
          <a:xfrm>
            <a:off x="2595007" y="4584700"/>
            <a:ext cx="170608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C"/>
                </a:solidFill>
                <a:latin typeface="Arial" pitchFamily="34" charset="0"/>
                <a:ea typeface="Arial" pitchFamily="34" charset="-122"/>
                <a:cs typeface="Arial" pitchFamily="34" charset="-120"/>
              </a:rPr>
              <a:t>Camera decision</a:t>
            </a:r>
            <a:endParaRPr lang="en-US" sz="1200" dirty="0"/>
          </a:p>
        </p:txBody>
      </p:sp>
      <p:sp>
        <p:nvSpPr>
          <p:cNvPr id="32" name="Text 30"/>
          <p:cNvSpPr/>
          <p:nvPr/>
        </p:nvSpPr>
        <p:spPr>
          <a:xfrm>
            <a:off x="4377293" y="4345942"/>
            <a:ext cx="1706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2A"/>
                </a:solidFill>
                <a:latin typeface="Arial" pitchFamily="34" charset="0"/>
                <a:ea typeface="Arial" pitchFamily="34" charset="-122"/>
                <a:cs typeface="Arial" pitchFamily="34" charset="-120"/>
              </a:rPr>
              <a:t>Week 20</a:t>
            </a:r>
            <a:endParaRPr lang="en-US" sz="1200" dirty="0"/>
          </a:p>
        </p:txBody>
      </p:sp>
      <p:sp>
        <p:nvSpPr>
          <p:cNvPr id="33" name="Text 31"/>
          <p:cNvSpPr/>
          <p:nvPr/>
        </p:nvSpPr>
        <p:spPr>
          <a:xfrm>
            <a:off x="4377293" y="4584700"/>
            <a:ext cx="1706007"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C"/>
                </a:solidFill>
                <a:latin typeface="Arial" pitchFamily="34" charset="0"/>
                <a:ea typeface="Arial" pitchFamily="34" charset="-122"/>
                <a:cs typeface="Arial" pitchFamily="34" charset="-120"/>
              </a:rPr>
              <a:t>Simulation demo</a:t>
            </a:r>
            <a:endParaRPr lang="en-US" sz="1200" dirty="0"/>
          </a:p>
        </p:txBody>
      </p:sp>
      <p:sp>
        <p:nvSpPr>
          <p:cNvPr id="34" name="Text 32"/>
          <p:cNvSpPr/>
          <p:nvPr/>
        </p:nvSpPr>
        <p:spPr>
          <a:xfrm>
            <a:off x="6159500" y="4345942"/>
            <a:ext cx="17060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2A"/>
                </a:solidFill>
                <a:latin typeface="Arial" pitchFamily="34" charset="0"/>
                <a:ea typeface="Arial" pitchFamily="34" charset="-122"/>
                <a:cs typeface="Arial" pitchFamily="34" charset="-120"/>
              </a:rPr>
              <a:t>Week 22</a:t>
            </a:r>
            <a:endParaRPr lang="en-US" sz="1200" dirty="0"/>
          </a:p>
        </p:txBody>
      </p:sp>
      <p:sp>
        <p:nvSpPr>
          <p:cNvPr id="35" name="Text 33"/>
          <p:cNvSpPr/>
          <p:nvPr/>
        </p:nvSpPr>
        <p:spPr>
          <a:xfrm>
            <a:off x="6159500" y="4584700"/>
            <a:ext cx="170608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C"/>
                </a:solidFill>
                <a:latin typeface="Arial" pitchFamily="34" charset="0"/>
                <a:ea typeface="Arial" pitchFamily="34" charset="-122"/>
                <a:cs typeface="Arial" pitchFamily="34" charset="-120"/>
              </a:rPr>
              <a:t>Cleared to fly</a:t>
            </a:r>
            <a:endParaRPr lang="en-US" sz="1200" dirty="0"/>
          </a:p>
        </p:txBody>
      </p:sp>
      <p:sp>
        <p:nvSpPr>
          <p:cNvPr id="36" name="Text 34"/>
          <p:cNvSpPr/>
          <p:nvPr/>
        </p:nvSpPr>
        <p:spPr>
          <a:xfrm>
            <a:off x="7941787" y="4345942"/>
            <a:ext cx="1706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2A"/>
                </a:solidFill>
                <a:latin typeface="Arial" pitchFamily="34" charset="0"/>
                <a:ea typeface="Arial" pitchFamily="34" charset="-122"/>
                <a:cs typeface="Arial" pitchFamily="34" charset="-120"/>
              </a:rPr>
              <a:t>Week 27</a:t>
            </a:r>
            <a:endParaRPr lang="en-US" sz="1200" dirty="0"/>
          </a:p>
        </p:txBody>
      </p:sp>
      <p:sp>
        <p:nvSpPr>
          <p:cNvPr id="37" name="Text 35"/>
          <p:cNvSpPr/>
          <p:nvPr/>
        </p:nvSpPr>
        <p:spPr>
          <a:xfrm>
            <a:off x="7941787" y="4584700"/>
            <a:ext cx="1706007"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C"/>
                </a:solidFill>
                <a:latin typeface="Arial" pitchFamily="34" charset="0"/>
                <a:ea typeface="Arial" pitchFamily="34" charset="-122"/>
                <a:cs typeface="Arial" pitchFamily="34" charset="-120"/>
              </a:rPr>
              <a:t>Hand-over in flight</a:t>
            </a:r>
            <a:endParaRPr lang="en-US" sz="1200" dirty="0"/>
          </a:p>
        </p:txBody>
      </p:sp>
      <p:sp>
        <p:nvSpPr>
          <p:cNvPr id="38" name="Text 36"/>
          <p:cNvSpPr/>
          <p:nvPr/>
        </p:nvSpPr>
        <p:spPr>
          <a:xfrm>
            <a:off x="9723993" y="4345942"/>
            <a:ext cx="17060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2A"/>
                </a:solidFill>
                <a:latin typeface="Arial" pitchFamily="34" charset="0"/>
                <a:ea typeface="Arial" pitchFamily="34" charset="-122"/>
                <a:cs typeface="Arial" pitchFamily="34" charset="-120"/>
              </a:rPr>
              <a:t>Week 34</a:t>
            </a:r>
            <a:endParaRPr lang="en-US" sz="1200" dirty="0"/>
          </a:p>
        </p:txBody>
      </p:sp>
      <p:sp>
        <p:nvSpPr>
          <p:cNvPr id="39" name="Text 37"/>
          <p:cNvSpPr/>
          <p:nvPr/>
        </p:nvSpPr>
        <p:spPr>
          <a:xfrm>
            <a:off x="9723993" y="4584700"/>
            <a:ext cx="1706007"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5C"/>
                </a:solidFill>
                <a:latin typeface="Arial" pitchFamily="34" charset="0"/>
                <a:ea typeface="Arial" pitchFamily="34" charset="-122"/>
                <a:cs typeface="Arial" pitchFamily="34" charset="-120"/>
              </a:rPr>
              <a:t>Final demonstration</a:t>
            </a:r>
            <a:endParaRPr lang="en-US" sz="1200" dirty="0"/>
          </a:p>
        </p:txBody>
      </p:sp>
      <p:sp>
        <p:nvSpPr>
          <p:cNvPr id="40" name="Text 38"/>
          <p:cNvSpPr/>
          <p:nvPr/>
        </p:nvSpPr>
        <p:spPr>
          <a:xfrm>
            <a:off x="812800" y="6238242"/>
            <a:ext cx="26431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GPS-Denied Autonomous Drone</a:t>
            </a:r>
            <a:endParaRPr lang="en-US" sz="1200" dirty="0"/>
          </a:p>
        </p:txBody>
      </p:sp>
      <p:sp>
        <p:nvSpPr>
          <p:cNvPr id="41" name="Text 39"/>
          <p:cNvSpPr/>
          <p:nvPr/>
        </p:nvSpPr>
        <p:spPr>
          <a:xfrm>
            <a:off x="11158855" y="6238242"/>
            <a:ext cx="22034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480"/>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2A"/>
                </a:solidFill>
                <a:latin typeface="Arial" pitchFamily="34" charset="0"/>
                <a:ea typeface="Arial" pitchFamily="34" charset="-122"/>
                <a:cs typeface="Arial" pitchFamily="34" charset="-120"/>
              </a:rPr>
              <a:t>13</a:t>
            </a:r>
            <a:endParaRPr lang="en-US" sz="1200" dirty="0"/>
          </a:p>
        </p:txBody>
      </p:sp>
      <p:sp>
        <p:nvSpPr>
          <p:cNvPr id="3" name="Text 1"/>
          <p:cNvSpPr/>
          <p:nvPr>
            <p:ph type="title"/>
          </p:nvPr>
        </p:nvSpPr>
        <p:spPr>
          <a:xfrm>
            <a:off x="812800" y="11023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A41"/>
                </a:solidFill>
                <a:latin typeface="Georgia" pitchFamily="18" charset="0"/>
                <a:ea typeface="Georgia" pitchFamily="18" charset="-122"/>
                <a:cs typeface="Georgia" pitchFamily="18" charset="-120"/>
              </a:rPr>
              <a:t>Risk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85624"/>
          <a:ext cx="10556240" cy="2621280"/>
        </p:xfrm>
        <a:graphic>
          <a:graphicData uri="http://schemas.openxmlformats.org/drawingml/2006/table">
            <a:tbl>
              <a:tblPr/>
              <a:tblGrid>
                <a:gridCol w="3377997"/>
                <a:gridCol w="1266749"/>
                <a:gridCol w="1161186"/>
                <a:gridCol w="4750308"/>
              </a:tblGrid>
              <a:tr h="330200">
                <a:tc>
                  <a:txBody>
                    <a:bodyPr/>
                    <a:lstStyle/>
                    <a:p>
                      <a:pPr indent="0" marL="0">
                        <a:lnSpc>
                          <a:spcPts val="1680"/>
                        </a:lnSpc>
                        <a:buNone/>
                      </a:pPr>
                      <a:r>
                        <a:rPr lang="en-US" sz="1200" b="1" dirty="0">
                          <a:solidFill>
                            <a:srgbClr val="1B2A41"/>
                          </a:solidFill>
                          <a:latin typeface="Arial" pitchFamily="34" charset="0"/>
                          <a:ea typeface="Arial" pitchFamily="34" charset="-122"/>
                          <a:cs typeface="Arial" pitchFamily="34" charset="-120"/>
                        </a:rPr>
                        <a:t>Risk</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B2A41"/>
                          </a:solidFill>
                          <a:latin typeface="Arial" pitchFamily="34" charset="0"/>
                          <a:ea typeface="Arial" pitchFamily="34" charset="-122"/>
                          <a:cs typeface="Arial" pitchFamily="34" charset="-120"/>
                        </a:rPr>
                        <a:t>Likelihood</a:t>
                      </a:r>
                      <a:endParaRPr lang="en-US" sz="1200" dirty="0">
                        <a:latin typeface="Arial" charset="0"/>
                        <a:ea typeface="Arial" charset="0"/>
                        <a:cs typeface="Arial"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B2A41"/>
                          </a:solidFill>
                          <a:latin typeface="Arial" pitchFamily="34" charset="0"/>
                          <a:ea typeface="Arial" pitchFamily="34" charset="-122"/>
                          <a:cs typeface="Arial" pitchFamily="34" charset="-120"/>
                        </a:rPr>
                        <a:t>Impact</a:t>
                      </a:r>
                      <a:endParaRPr lang="en-US" sz="1200" dirty="0">
                        <a:latin typeface="Arial" charset="0"/>
                        <a:ea typeface="Arial" charset="0"/>
                        <a:cs typeface="Arial"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B2A41"/>
                          </a:solidFill>
                          <a:latin typeface="Arial" pitchFamily="34" charset="0"/>
                          <a:ea typeface="Arial" pitchFamily="34" charset="-122"/>
                          <a:cs typeface="Arial" pitchFamily="34" charset="-120"/>
                        </a:rPr>
                        <a:t>Mitigation</a:t>
                      </a:r>
                      <a:endParaRPr lang="en-US" sz="1200" dirty="0">
                        <a:latin typeface="Arial" charset="0"/>
                        <a:ea typeface="Arial" charset="0"/>
                        <a:cs typeface="Arial"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543560">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Camera unsuitable for odometry: rolling shutter, no hardware sync</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Measured go/no-go at week 13; backup estimator; upgrade path named</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543560">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Pi 5 CPU cannot run odometry, depth and AI together</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53340" marR="53340" marT="53340" marB="5334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53340" marR="53340" marT="53340" marB="5334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CPU budget per module; AI and video shed first</a:t>
                      </a:r>
                      <a:endParaRPr lang="en-US" sz="1200" dirty="0">
                        <a:latin typeface="Arial" charset="0"/>
                        <a:ea typeface="Arial" charset="0"/>
                        <a:cs typeface="Arial" charset="0"/>
                      </a:endParaRPr>
                    </a:p>
                  </a:txBody>
                  <a:tcPr marL="53340" marR="53340" marT="53340" marB="5334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r>
              <a:tr h="543560">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Position jump when switching source</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Continuous alignment beforehand; first switches in a tethered hover</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30200">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Crash during testing</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53340" marR="53340" marT="53340" marB="5334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53340" marR="53340" marT="53340" marB="5334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Eight test levels before autonomy; safety pilot; spare parts</a:t>
                      </a:r>
                      <a:endParaRPr lang="en-US" sz="1200" dirty="0">
                        <a:latin typeface="Arial" charset="0"/>
                        <a:ea typeface="Arial" charset="0"/>
                        <a:cs typeface="Arial" charset="0"/>
                      </a:endParaRPr>
                    </a:p>
                  </a:txBody>
                  <a:tcPr marL="53340" marR="53340" marT="53340" marB="5334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A"/>
                    </a:solidFill>
                  </a:tcPr>
                </a:tc>
              </a:tr>
              <a:tr h="330200">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Schedule overrun</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Arial" pitchFamily="34" charset="0"/>
                          <a:ea typeface="Arial" pitchFamily="34" charset="-122"/>
                          <a:cs typeface="Arial" pitchFamily="34" charset="-120"/>
                        </a:rPr>
                        <a:t>Simulation first; three delivery levels</a:t>
                      </a:r>
                      <a:endParaRPr lang="en-US" sz="1200" dirty="0">
                        <a:latin typeface="Arial" charset="0"/>
                        <a:ea typeface="Arial" charset="0"/>
                        <a:cs typeface="Arial"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5" name="Text 2"/>
          <p:cNvSpPr/>
          <p:nvPr/>
        </p:nvSpPr>
        <p:spPr>
          <a:xfrm>
            <a:off x="812800" y="6238242"/>
            <a:ext cx="26431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0"/>
                </a:solidFill>
                <a:latin typeface="Arial" pitchFamily="34" charset="0"/>
                <a:ea typeface="Arial" pitchFamily="34" charset="-122"/>
                <a:cs typeface="Arial" pitchFamily="34" charset="-120"/>
              </a:rPr>
              <a:t>GPS-Denied Autonomous Drone</a:t>
            </a:r>
            <a:endParaRPr lang="en-US" sz="1200" dirty="0"/>
          </a:p>
        </p:txBody>
      </p:sp>
      <p:sp>
        <p:nvSpPr>
          <p:cNvPr id="6" name="Text 3"/>
          <p:cNvSpPr/>
          <p:nvPr/>
        </p:nvSpPr>
        <p:spPr>
          <a:xfrm>
            <a:off x="11158855" y="6238242"/>
            <a:ext cx="22034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480"/>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29A6B"/>
                </a:solidFill>
                <a:latin typeface="Arial" pitchFamily="34" charset="0"/>
                <a:ea typeface="Arial" pitchFamily="34" charset="-122"/>
                <a:cs typeface="Arial" pitchFamily="34" charset="-120"/>
              </a:rPr>
              <a:t>CURRENT STATUS</a:t>
            </a:r>
            <a:endParaRPr lang="en-US" sz="1200" dirty="0"/>
          </a:p>
        </p:txBody>
      </p:sp>
      <p:sp>
        <p:nvSpPr>
          <p:cNvPr id="3" name="Text 1"/>
          <p:cNvSpPr/>
          <p:nvPr>
            <p:ph type="title"/>
          </p:nvPr>
        </p:nvSpPr>
        <p:spPr>
          <a:xfrm>
            <a:off x="812800" y="2600964"/>
            <a:ext cx="10883392" cy="668020"/>
          </a:xfrm>
          <a:prstGeom prst="rect">
            <a:avLst/>
          </a:prstGeom>
          <a:noFill/>
          <a:ln/>
        </p:spPr>
        <p:txBody>
          <a:bodyPr wrap="square" lIns="0" tIns="0" rIns="0" bIns="0" rtlCol="0" anchor="t">
            <a:normAutofit/>
          </a:bodyPr>
          <a:lstStyle/>
          <a:p>
            <a:pPr algn="l" indent="0" marL="0">
              <a:lnSpc>
                <a:spcPts val="5060"/>
              </a:lnSpc>
              <a:buNone/>
            </a:pPr>
            <a:r>
              <a:rPr lang="en-US" sz="4600" b="1" i="0" dirty="0">
                <a:solidFill>
                  <a:srgbClr val="F4F2EC"/>
                </a:solidFill>
                <a:latin typeface="Georgia" pitchFamily="18" charset="0"/>
                <a:ea typeface="Georgia" pitchFamily="18" charset="-122"/>
                <a:cs typeface="Georgia" pitchFamily="18" charset="-120"/>
              </a:rPr>
              <a:t>Thank you</a:t>
            </a:r>
            <a:endParaRPr lang="en-US" sz="4600" dirty="0"/>
          </a:p>
        </p:txBody>
      </p:sp>
      <p:sp>
        <p:nvSpPr>
          <p:cNvPr id="4" name="Text 2"/>
          <p:cNvSpPr/>
          <p:nvPr/>
        </p:nvSpPr>
        <p:spPr>
          <a:xfrm>
            <a:off x="812800" y="3446779"/>
            <a:ext cx="990600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3CCD8"/>
                </a:solidFill>
                <a:latin typeface="Arial" pitchFamily="34" charset="0"/>
                <a:ea typeface="Arial" pitchFamily="34" charset="-122"/>
                <a:cs typeface="Arial" pitchFamily="34" charset="-120"/>
              </a:rPr>
              <a:t>Design baseline complete. Next: procure the flight controller and set up the simulation.</a:t>
            </a:r>
            <a:endParaRPr lang="en-US" sz="1700" dirty="0"/>
          </a:p>
        </p:txBody>
      </p:sp>
      <p:sp>
        <p:nvSpPr>
          <p:cNvPr id="5" name="Shape 3"/>
          <p:cNvSpPr/>
          <p:nvPr/>
        </p:nvSpPr>
        <p:spPr>
          <a:xfrm>
            <a:off x="812800" y="5327017"/>
            <a:ext cx="10566400" cy="0"/>
          </a:xfrm>
          <a:prstGeom prst="line">
            <a:avLst/>
          </a:prstGeom>
          <a:noFill/>
          <a:ln w="6350">
            <a:solidFill>
              <a:srgbClr val="45546B"/>
            </a:solidFill>
            <a:prstDash val="solid"/>
          </a:ln>
        </p:spPr>
      </p:sp>
      <p:sp>
        <p:nvSpPr>
          <p:cNvPr id="6" name="Text 4"/>
          <p:cNvSpPr/>
          <p:nvPr/>
        </p:nvSpPr>
        <p:spPr>
          <a:xfrm>
            <a:off x="812800" y="5532121"/>
            <a:ext cx="41017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Arial" pitchFamily="34" charset="0"/>
                <a:ea typeface="Arial" pitchFamily="34" charset="-122"/>
                <a:cs typeface="Arial" pitchFamily="34" charset="-120"/>
              </a:rPr>
              <a:t>Decisions needed from the review</a:t>
            </a:r>
            <a:endParaRPr lang="en-US" sz="1200" dirty="0"/>
          </a:p>
        </p:txBody>
      </p:sp>
      <p:sp>
        <p:nvSpPr>
          <p:cNvPr id="7" name="Text 5"/>
          <p:cNvSpPr/>
          <p:nvPr/>
        </p:nvSpPr>
        <p:spPr>
          <a:xfrm>
            <a:off x="812800" y="5796279"/>
            <a:ext cx="477878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2EC"/>
                </a:solidFill>
                <a:latin typeface="Arial" pitchFamily="34" charset="0"/>
                <a:ea typeface="Arial" pitchFamily="34" charset="-122"/>
                <a:cs typeface="Arial" pitchFamily="34" charset="-120"/>
              </a:rPr>
              <a:t>Airframe · objects to detect · one or two semesters</a:t>
            </a:r>
            <a:endParaRPr lang="en-US" sz="1400" dirty="0"/>
          </a:p>
        </p:txBody>
      </p:sp>
    </p:spTree>
  </p:cSld>
  <p:clrMapOvr>
    <a:masterClrMapping/>
  </p:clrMapOvr>
</p:sld>
</file>

<file path=ppt/theme/theme1.xml><?xml version="1.0" encoding="utf-8"?>
<a:theme xmlns:a="http://schemas.openxmlformats.org/drawingml/2006/main" name="GPS-Denied Autonomous Drone — Project Review">
  <a:themeElements>
    <a:clrScheme name="GPS-Denied Autonomous Drone — Project Review">
      <a:dk1>
        <a:srgbClr val="1B2A41"/>
      </a:dk1>
      <a:lt1>
        <a:srgbClr val="FAFAF7"/>
      </a:lt1>
      <a:dk2>
        <a:srgbClr val="535E6F"/>
      </a:dk2>
      <a:lt2>
        <a:srgbClr val="E4E5E5"/>
      </a:lt2>
      <a:accent1>
        <a:srgbClr val="B4532A"/>
      </a:accent1>
      <a:accent2>
        <a:srgbClr val="E29A6B"/>
      </a:accent2>
      <a:accent3>
        <a:srgbClr val="3D4A5C"/>
      </a:accent3>
      <a:accent4>
        <a:srgbClr val="6A7480"/>
      </a:accent4>
      <a:accent5>
        <a:srgbClr val="9AA7B8"/>
      </a:accent5>
      <a:accent6>
        <a:srgbClr val="C3CCD8"/>
      </a:accent6>
      <a:hlink>
        <a:srgbClr val="0563C1"/>
      </a:hlink>
      <a:folHlink>
        <a:srgbClr val="954F72"/>
      </a:folHlink>
    </a:clrScheme>
    <a:fontScheme name="GPS-Denied Autonomous Drone — Project Re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GPS-Denied Autonomous Drone — Project Review</dc:title>
  <dc:subject/>
  <dc:creator/>
  <cp:lastModifiedBy/>
  <cp:revision>1</cp:revision>
  <dcterms:created xsi:type="dcterms:W3CDTF">2026-10-05T17:01:08Z</dcterms:created>
  <dcterms:modified xsi:type="dcterms:W3CDTF">2026-10-05T17:01:08Z</dcterms:modified>
</cp:coreProperties>
</file>